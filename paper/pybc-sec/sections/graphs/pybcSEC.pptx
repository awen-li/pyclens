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7" r:id="rId2"/>
    <p:sldId id="258" r:id="rId3"/>
    <p:sldId id="260" r:id="rId4"/>
    <p:sldId id="256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86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75BE1E-4319-48D5-88A9-F69A4B65E57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F12028-5C3E-4A2D-9821-DC50F1178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18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CC17-D2FF-F531-5DBA-BDED726EA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887D2-52B1-77B6-E963-FF6C9F872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79D70-B193-9AC3-5C6D-A12D99F55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14DD1-50EF-22D5-3985-9ABA70C1C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56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56194-8981-5526-6A50-DCDA44CF1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BF064-70A4-67BB-9886-4DCCF247CE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F30B8E-08B4-1653-6916-0A0D8D4E5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3B4C6A-84B4-88ED-34E5-2B69F2387B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374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DA765-2B8A-A366-824B-3CD8F392E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7E482-ABE4-8872-71AA-119E5B563D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BFA25F-8B8E-E05D-9088-55E669EE0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3FB4A-B619-F495-D636-1F6B7C55A4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25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01454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13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68576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929632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00544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830816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11328" y="1705864"/>
            <a:ext cx="1828800" cy="3023616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316480" y="1705864"/>
            <a:ext cx="2584704" cy="3023616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77536" y="1705864"/>
            <a:ext cx="2194560" cy="3023616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48448" y="1705864"/>
            <a:ext cx="2153920" cy="3023616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078720" y="1705864"/>
            <a:ext cx="2072640" cy="3023616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46528" y="4006088"/>
            <a:ext cx="2324608" cy="0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307584" y="4006088"/>
            <a:ext cx="1934464" cy="0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78496" y="3916680"/>
            <a:ext cx="1893824" cy="0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208768" y="3916680"/>
            <a:ext cx="1812544" cy="0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3248" y="1844040"/>
            <a:ext cx="1584960" cy="292608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404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 Collection</a:t>
            </a:r>
            <a:endParaRPr lang="en-US" sz="1404" dirty="0"/>
          </a:p>
        </p:txBody>
      </p:sp>
      <p:sp>
        <p:nvSpPr>
          <p:cNvPr id="16" name="Text 14"/>
          <p:cNvSpPr/>
          <p:nvPr/>
        </p:nvSpPr>
        <p:spPr>
          <a:xfrm>
            <a:off x="357632" y="2534920"/>
            <a:ext cx="1536192" cy="471424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73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Input: </a:t>
            </a:r>
            <a:r>
              <a:rPr lang="en-US" sz="117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PyPI distribution</a:t>
            </a:r>
            <a:endParaRPr lang="en-US" sz="1173" dirty="0"/>
          </a:p>
          <a:p>
            <a:r>
              <a:rPr lang="en-US" sz="117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artifacts</a:t>
            </a:r>
            <a:endParaRPr lang="en-US" sz="1173" dirty="0"/>
          </a:p>
        </p:txBody>
      </p:sp>
      <p:sp>
        <p:nvSpPr>
          <p:cNvPr id="17" name="Text 15"/>
          <p:cNvSpPr/>
          <p:nvPr/>
        </p:nvSpPr>
        <p:spPr>
          <a:xfrm>
            <a:off x="357632" y="3591560"/>
            <a:ext cx="1536192" cy="56896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73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Outputs: </a:t>
            </a:r>
            <a:r>
              <a:rPr lang="en-US" sz="117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wheels and</a:t>
            </a:r>
            <a:endParaRPr lang="en-US" sz="1173" dirty="0"/>
          </a:p>
          <a:p>
            <a:r>
              <a:rPr lang="en-US" sz="117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source distributions</a:t>
            </a:r>
            <a:endParaRPr lang="en-US" sz="1173" dirty="0"/>
          </a:p>
        </p:txBody>
      </p:sp>
      <p:sp>
        <p:nvSpPr>
          <p:cNvPr id="18" name="Text 16"/>
          <p:cNvSpPr/>
          <p:nvPr/>
        </p:nvSpPr>
        <p:spPr>
          <a:xfrm>
            <a:off x="2462784" y="1819656"/>
            <a:ext cx="1885696" cy="487680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 fontScale="92500"/>
          </a:bodyPr>
          <a:lstStyle/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Phase 1: Bytecode</a:t>
            </a:r>
            <a:endParaRPr lang="en-US" sz="1236" dirty="0"/>
          </a:p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Exposure and Transparency</a:t>
            </a:r>
            <a:endParaRPr lang="en-US" sz="1236" dirty="0"/>
          </a:p>
        </p:txBody>
      </p:sp>
      <p:sp>
        <p:nvSpPr>
          <p:cNvPr id="19" name="Text 17"/>
          <p:cNvSpPr/>
          <p:nvPr/>
        </p:nvSpPr>
        <p:spPr>
          <a:xfrm>
            <a:off x="4462272" y="1819656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 fontScale="92500"/>
          </a:bodyPr>
          <a:lstStyle/>
          <a:p>
            <a:pPr algn="ctr"/>
            <a:r>
              <a:rPr lang="en-US" sz="1102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RQ1</a:t>
            </a:r>
            <a:endParaRPr lang="en-US" sz="1102" dirty="0"/>
          </a:p>
        </p:txBody>
      </p:sp>
      <p:sp>
        <p:nvSpPr>
          <p:cNvPr id="20" name="Text 18"/>
          <p:cNvSpPr/>
          <p:nvPr/>
        </p:nvSpPr>
        <p:spPr>
          <a:xfrm>
            <a:off x="2495296" y="2469896"/>
            <a:ext cx="2227072" cy="130860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1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scan artifacts</a:t>
            </a:r>
            <a:endParaRPr lang="en-US" sz="1111" dirty="0"/>
          </a:p>
          <a:p>
            <a:r>
              <a:rPr lang="en-US" sz="111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identify .pyc files</a:t>
            </a:r>
            <a:endParaRPr lang="en-US" sz="1111" dirty="0"/>
          </a:p>
          <a:p>
            <a:r>
              <a:rPr lang="en-US" sz="111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identify __pycache__ directories</a:t>
            </a:r>
            <a:endParaRPr lang="en-US" sz="1111" dirty="0"/>
          </a:p>
          <a:p>
            <a:r>
              <a:rPr lang="en-US" sz="111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identify source files</a:t>
            </a:r>
            <a:endParaRPr lang="en-US" sz="1111" dirty="0"/>
          </a:p>
          <a:p>
            <a:r>
              <a:rPr lang="en-US" sz="111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identify source-less bytecode</a:t>
            </a:r>
            <a:endParaRPr lang="en-US" sz="1111" dirty="0"/>
          </a:p>
          <a:p>
            <a:r>
              <a:rPr lang="en-US" sz="111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extract CPython version evidence</a:t>
            </a:r>
            <a:endParaRPr lang="en-US" sz="1111" dirty="0"/>
          </a:p>
        </p:txBody>
      </p:sp>
      <p:sp>
        <p:nvSpPr>
          <p:cNvPr id="21" name="Text 19"/>
          <p:cNvSpPr/>
          <p:nvPr/>
        </p:nvSpPr>
        <p:spPr>
          <a:xfrm>
            <a:off x="2495296" y="4144264"/>
            <a:ext cx="2227072" cy="471424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29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29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bytecode prevalence</a:t>
            </a:r>
            <a:endParaRPr lang="en-US" sz="1129" dirty="0"/>
          </a:p>
          <a:p>
            <a:r>
              <a:rPr lang="en-US" sz="1129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and transparency metrics</a:t>
            </a:r>
            <a:endParaRPr lang="en-US" sz="1129" dirty="0"/>
          </a:p>
        </p:txBody>
      </p:sp>
      <p:sp>
        <p:nvSpPr>
          <p:cNvPr id="22" name="Text 20"/>
          <p:cNvSpPr/>
          <p:nvPr/>
        </p:nvSpPr>
        <p:spPr>
          <a:xfrm>
            <a:off x="5323840" y="1819656"/>
            <a:ext cx="1511808" cy="487680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Phase 2: Practical</a:t>
            </a:r>
            <a:endParaRPr lang="en-US" sz="1236" dirty="0"/>
          </a:p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Analyzability</a:t>
            </a:r>
            <a:endParaRPr lang="en-US" sz="1236" dirty="0"/>
          </a:p>
        </p:txBody>
      </p:sp>
      <p:sp>
        <p:nvSpPr>
          <p:cNvPr id="23" name="Text 21"/>
          <p:cNvSpPr/>
          <p:nvPr/>
        </p:nvSpPr>
        <p:spPr>
          <a:xfrm>
            <a:off x="6949440" y="1819656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 fontScale="92500"/>
          </a:bodyPr>
          <a:lstStyle/>
          <a:p>
            <a:pPr algn="ctr"/>
            <a:r>
              <a:rPr lang="en-US" sz="1102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RQ2</a:t>
            </a:r>
            <a:endParaRPr lang="en-US" sz="1102" dirty="0"/>
          </a:p>
        </p:txBody>
      </p:sp>
      <p:sp>
        <p:nvSpPr>
          <p:cNvPr id="24" name="Text 22"/>
          <p:cNvSpPr/>
          <p:nvPr/>
        </p:nvSpPr>
        <p:spPr>
          <a:xfrm>
            <a:off x="5340096" y="2494280"/>
            <a:ext cx="1869440" cy="125984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2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version-matched analysis with:</a:t>
            </a:r>
            <a:endParaRPr lang="en-US" sz="1120" dirty="0"/>
          </a:p>
          <a:p>
            <a:r>
              <a:rPr lang="en-US" sz="112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CPython marshal/dis</a:t>
            </a:r>
            <a:endParaRPr lang="en-US" sz="1120" dirty="0"/>
          </a:p>
          <a:p>
            <a:r>
              <a:rPr lang="en-US" sz="112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uncompyle6</a:t>
            </a:r>
            <a:endParaRPr lang="en-US" sz="1120" dirty="0"/>
          </a:p>
          <a:p>
            <a:r>
              <a:rPr lang="en-US" sz="112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decompyle3</a:t>
            </a:r>
            <a:endParaRPr lang="en-US" sz="1120" dirty="0"/>
          </a:p>
          <a:p>
            <a:r>
              <a:rPr lang="en-US" sz="112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pycdc</a:t>
            </a:r>
            <a:endParaRPr lang="en-US" sz="1120" dirty="0"/>
          </a:p>
          <a:p>
            <a:r>
              <a:rPr lang="en-US" sz="112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PyLingual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5340096" y="4144264"/>
            <a:ext cx="1869440" cy="471424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29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29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analyzability levels</a:t>
            </a:r>
            <a:endParaRPr lang="en-US" sz="1129" dirty="0"/>
          </a:p>
          <a:p>
            <a:r>
              <a:rPr lang="en-US" sz="1129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and failure reasons</a:t>
            </a:r>
            <a:endParaRPr lang="en-US" sz="1129" dirty="0"/>
          </a:p>
        </p:txBody>
      </p:sp>
      <p:sp>
        <p:nvSpPr>
          <p:cNvPr id="26" name="Text 24"/>
          <p:cNvSpPr/>
          <p:nvPr/>
        </p:nvSpPr>
        <p:spPr>
          <a:xfrm>
            <a:off x="7794752" y="1819656"/>
            <a:ext cx="1471168" cy="487680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Phase 3: Interpreter</a:t>
            </a:r>
            <a:endParaRPr lang="en-US" sz="1236" dirty="0"/>
          </a:p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Robustness</a:t>
            </a:r>
            <a:endParaRPr lang="en-US" sz="1236" dirty="0"/>
          </a:p>
        </p:txBody>
      </p:sp>
      <p:sp>
        <p:nvSpPr>
          <p:cNvPr id="27" name="Text 25"/>
          <p:cNvSpPr/>
          <p:nvPr/>
        </p:nvSpPr>
        <p:spPr>
          <a:xfrm>
            <a:off x="9379712" y="1819656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 fontScale="92500"/>
          </a:bodyPr>
          <a:lstStyle/>
          <a:p>
            <a:pPr algn="ctr"/>
            <a:r>
              <a:rPr lang="en-US" sz="1102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RQ3</a:t>
            </a:r>
            <a:endParaRPr lang="en-US" sz="1102" dirty="0"/>
          </a:p>
        </p:txBody>
      </p:sp>
      <p:sp>
        <p:nvSpPr>
          <p:cNvPr id="28" name="Text 26"/>
          <p:cNvSpPr/>
          <p:nvPr/>
        </p:nvSpPr>
        <p:spPr>
          <a:xfrm>
            <a:off x="7892288" y="2803144"/>
            <a:ext cx="1666240" cy="438912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pPr algn="ctr"/>
            <a:r>
              <a:rPr lang="en-US" sz="1156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CPython-version-specific</a:t>
            </a:r>
            <a:endParaRPr lang="en-US" sz="1156" dirty="0"/>
          </a:p>
          <a:p>
            <a:pPr algn="ctr"/>
            <a:r>
              <a:rPr lang="en-US" sz="1156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bytecode fuzzing</a:t>
            </a:r>
            <a:endParaRPr lang="en-US" sz="1156" dirty="0"/>
          </a:p>
        </p:txBody>
      </p:sp>
      <p:sp>
        <p:nvSpPr>
          <p:cNvPr id="29" name="Text 27"/>
          <p:cNvSpPr/>
          <p:nvPr/>
        </p:nvSpPr>
        <p:spPr>
          <a:xfrm>
            <a:off x="7794752" y="4062984"/>
            <a:ext cx="1861312" cy="24384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38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38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execution outcomes</a:t>
            </a:r>
            <a:endParaRPr lang="en-US" sz="1138" dirty="0"/>
          </a:p>
        </p:txBody>
      </p:sp>
      <p:sp>
        <p:nvSpPr>
          <p:cNvPr id="30" name="Text 28"/>
          <p:cNvSpPr/>
          <p:nvPr/>
        </p:nvSpPr>
        <p:spPr>
          <a:xfrm>
            <a:off x="7794752" y="4306824"/>
            <a:ext cx="1861312" cy="341376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084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normal, exception, timeout,</a:t>
            </a:r>
            <a:endParaRPr lang="en-US" sz="1084" dirty="0"/>
          </a:p>
          <a:p>
            <a:r>
              <a:rPr lang="en-US" sz="1084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crash, abort</a:t>
            </a:r>
            <a:endParaRPr lang="en-US" sz="1084" dirty="0"/>
          </a:p>
        </p:txBody>
      </p:sp>
      <p:sp>
        <p:nvSpPr>
          <p:cNvPr id="31" name="Text 29"/>
          <p:cNvSpPr/>
          <p:nvPr/>
        </p:nvSpPr>
        <p:spPr>
          <a:xfrm>
            <a:off x="10225024" y="1819656"/>
            <a:ext cx="1389888" cy="487680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Phase 4: Source</a:t>
            </a:r>
            <a:endParaRPr lang="en-US" sz="1236" dirty="0"/>
          </a:p>
          <a:p>
            <a:pPr algn="ctr"/>
            <a:r>
              <a:rPr lang="en-US" sz="1236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Reproduction</a:t>
            </a:r>
            <a:endParaRPr lang="en-US" sz="1236" dirty="0"/>
          </a:p>
        </p:txBody>
      </p:sp>
      <p:sp>
        <p:nvSpPr>
          <p:cNvPr id="32" name="Text 30"/>
          <p:cNvSpPr/>
          <p:nvPr/>
        </p:nvSpPr>
        <p:spPr>
          <a:xfrm>
            <a:off x="11728704" y="1819656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 fontScale="92500"/>
          </a:bodyPr>
          <a:lstStyle/>
          <a:p>
            <a:pPr algn="ctr"/>
            <a:r>
              <a:rPr lang="en-US" sz="1102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RQ4</a:t>
            </a:r>
            <a:endParaRPr lang="en-US" sz="1102" dirty="0"/>
          </a:p>
        </p:txBody>
      </p:sp>
      <p:sp>
        <p:nvSpPr>
          <p:cNvPr id="33" name="Text 31"/>
          <p:cNvSpPr/>
          <p:nvPr/>
        </p:nvSpPr>
        <p:spPr>
          <a:xfrm>
            <a:off x="10257536" y="2567432"/>
            <a:ext cx="1715008" cy="97536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47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decompile</a:t>
            </a:r>
            <a:endParaRPr lang="en-US" sz="1147" dirty="0"/>
          </a:p>
          <a:p>
            <a:r>
              <a:rPr lang="en-US" sz="1147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compile</a:t>
            </a:r>
            <a:endParaRPr lang="en-US" sz="1147" dirty="0"/>
          </a:p>
          <a:p>
            <a:r>
              <a:rPr lang="en-US" sz="1147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rerun</a:t>
            </a:r>
            <a:endParaRPr lang="en-US" sz="1147" dirty="0"/>
          </a:p>
          <a:p>
            <a:r>
              <a:rPr lang="en-US" sz="1147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compare behavior class</a:t>
            </a:r>
            <a:endParaRPr lang="en-US" sz="1147" dirty="0"/>
          </a:p>
        </p:txBody>
      </p:sp>
      <p:sp>
        <p:nvSpPr>
          <p:cNvPr id="34" name="Text 32"/>
          <p:cNvSpPr/>
          <p:nvPr/>
        </p:nvSpPr>
        <p:spPr>
          <a:xfrm>
            <a:off x="10257536" y="4046728"/>
            <a:ext cx="1715008" cy="65024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2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02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reproduced /</a:t>
            </a:r>
            <a:endParaRPr lang="en-US" sz="1102" dirty="0"/>
          </a:p>
          <a:p>
            <a:r>
              <a:rPr lang="en-US" sz="1102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not reproduced by</a:t>
            </a:r>
            <a:endParaRPr lang="en-US" sz="1102" dirty="0"/>
          </a:p>
          <a:p>
            <a:r>
              <a:rPr lang="en-US" sz="1102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selected tools</a:t>
            </a:r>
            <a:endParaRPr lang="en-US" sz="1102" dirty="0"/>
          </a:p>
        </p:txBody>
      </p:sp>
      <p:sp>
        <p:nvSpPr>
          <p:cNvPr id="35" name="Text 33"/>
          <p:cNvSpPr/>
          <p:nvPr/>
        </p:nvSpPr>
        <p:spPr>
          <a:xfrm>
            <a:off x="528320" y="4989576"/>
            <a:ext cx="11135360" cy="243840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102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Version-aware analysis uses CPython tags and matching interpreters.</a:t>
            </a:r>
            <a:endParaRPr lang="en-US" sz="110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5D8E1-EB25-56FF-7566-F0E4A5738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8">
            <a:extLst>
              <a:ext uri="{FF2B5EF4-FFF2-40B4-BE49-F238E27FC236}">
                <a16:creationId xmlns:a16="http://schemas.microsoft.com/office/drawing/2014/main" id="{E82E74A1-C436-4A1E-14F1-BF920997FF24}"/>
              </a:ext>
            </a:extLst>
          </p:cNvPr>
          <p:cNvSpPr/>
          <p:nvPr/>
        </p:nvSpPr>
        <p:spPr>
          <a:xfrm>
            <a:off x="8716229" y="1739785"/>
            <a:ext cx="1639200" cy="2135403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D9D40A3F-99D7-A321-7CF7-A0D216D2F878}"/>
              </a:ext>
            </a:extLst>
          </p:cNvPr>
          <p:cNvSpPr/>
          <p:nvPr/>
        </p:nvSpPr>
        <p:spPr>
          <a:xfrm>
            <a:off x="8868827" y="2362182"/>
            <a:ext cx="1540891" cy="97536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decompile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compile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rerun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compare behavior class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0DD7F2-FD54-479A-9BCF-72D4C2F07E4D}"/>
              </a:ext>
            </a:extLst>
          </p:cNvPr>
          <p:cNvSpPr/>
          <p:nvPr/>
        </p:nvSpPr>
        <p:spPr>
          <a:xfrm>
            <a:off x="2316480" y="1731657"/>
            <a:ext cx="2093614" cy="2135404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00C22F5-6E01-B7B9-1061-252955E77785}"/>
              </a:ext>
            </a:extLst>
          </p:cNvPr>
          <p:cNvSpPr/>
          <p:nvPr/>
        </p:nvSpPr>
        <p:spPr>
          <a:xfrm>
            <a:off x="2068576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1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978AD3-346C-348A-ED6D-6F53061DDB72}"/>
              </a:ext>
            </a:extLst>
          </p:cNvPr>
          <p:cNvSpPr/>
          <p:nvPr/>
        </p:nvSpPr>
        <p:spPr>
          <a:xfrm>
            <a:off x="4439371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1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81D9EDB-9669-B530-EB6D-5A84FA8819C6}"/>
              </a:ext>
            </a:extLst>
          </p:cNvPr>
          <p:cNvSpPr/>
          <p:nvPr/>
        </p:nvSpPr>
        <p:spPr>
          <a:xfrm>
            <a:off x="6422697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1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657CDCB-ACFD-D209-F263-A9DBE0698325}"/>
              </a:ext>
            </a:extLst>
          </p:cNvPr>
          <p:cNvSpPr/>
          <p:nvPr/>
        </p:nvSpPr>
        <p:spPr>
          <a:xfrm>
            <a:off x="8458287" y="2869956"/>
            <a:ext cx="219456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1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FEEC528-4E07-4B97-B24B-07B5F4DA5DD2}"/>
              </a:ext>
            </a:extLst>
          </p:cNvPr>
          <p:cNvSpPr/>
          <p:nvPr/>
        </p:nvSpPr>
        <p:spPr>
          <a:xfrm>
            <a:off x="529336" y="2116680"/>
            <a:ext cx="1485018" cy="1536185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E7EBD60-1D6A-AF67-61E3-115376832077}"/>
              </a:ext>
            </a:extLst>
          </p:cNvPr>
          <p:cNvSpPr/>
          <p:nvPr/>
        </p:nvSpPr>
        <p:spPr>
          <a:xfrm>
            <a:off x="4691888" y="1731657"/>
            <a:ext cx="1702816" cy="2135403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9D066D1-BB8C-B1B2-EF30-8585DA26C0C3}"/>
              </a:ext>
            </a:extLst>
          </p:cNvPr>
          <p:cNvSpPr/>
          <p:nvPr/>
        </p:nvSpPr>
        <p:spPr>
          <a:xfrm>
            <a:off x="6674092" y="1739785"/>
            <a:ext cx="1748629" cy="2135403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97EE7B4-3989-2671-5B54-0D9A12A5F4D4}"/>
              </a:ext>
            </a:extLst>
          </p:cNvPr>
          <p:cNvSpPr/>
          <p:nvPr/>
        </p:nvSpPr>
        <p:spPr>
          <a:xfrm flipV="1">
            <a:off x="2316480" y="2189480"/>
            <a:ext cx="2098320" cy="4063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A8113AD-701E-2EEB-9B45-8E031FF6FC35}"/>
              </a:ext>
            </a:extLst>
          </p:cNvPr>
          <p:cNvSpPr/>
          <p:nvPr/>
        </p:nvSpPr>
        <p:spPr>
          <a:xfrm flipV="1">
            <a:off x="4691888" y="3366237"/>
            <a:ext cx="1702816" cy="3876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5BB1F3A-6AEC-BEF5-DA46-70063FE0E2BC}"/>
              </a:ext>
            </a:extLst>
          </p:cNvPr>
          <p:cNvSpPr/>
          <p:nvPr/>
        </p:nvSpPr>
        <p:spPr>
          <a:xfrm flipV="1">
            <a:off x="6674092" y="2189479"/>
            <a:ext cx="1748629" cy="5679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58924B6-6DAD-A035-6478-D50B7DC7B148}"/>
              </a:ext>
            </a:extLst>
          </p:cNvPr>
          <p:cNvSpPr/>
          <p:nvPr/>
        </p:nvSpPr>
        <p:spPr>
          <a:xfrm>
            <a:off x="8716228" y="3374905"/>
            <a:ext cx="1639201" cy="19145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68620AB-EA97-AFC8-388F-6BF91772BA48}"/>
              </a:ext>
            </a:extLst>
          </p:cNvPr>
          <p:cNvSpPr/>
          <p:nvPr/>
        </p:nvSpPr>
        <p:spPr>
          <a:xfrm>
            <a:off x="409448" y="2116680"/>
            <a:ext cx="1584960" cy="292608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Data Collection</a:t>
            </a:r>
            <a:endParaRPr lang="en-US" sz="11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3404F11-A37D-431C-FD5E-4205E8BBECC2}"/>
              </a:ext>
            </a:extLst>
          </p:cNvPr>
          <p:cNvSpPr/>
          <p:nvPr/>
        </p:nvSpPr>
        <p:spPr>
          <a:xfrm>
            <a:off x="628904" y="2572029"/>
            <a:ext cx="1354328" cy="471424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Input: 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PyPI distribution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artifacts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C3A5931-B252-78F7-C39E-68766B8009D8}"/>
              </a:ext>
            </a:extLst>
          </p:cNvPr>
          <p:cNvSpPr/>
          <p:nvPr/>
        </p:nvSpPr>
        <p:spPr>
          <a:xfrm>
            <a:off x="611331" y="3076208"/>
            <a:ext cx="1322625" cy="455594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Outputs: 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wheels and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source distributions</a:t>
            </a:r>
            <a:endParaRPr lang="en-US" sz="11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6E6AD85-210B-5DDF-1C71-41D726681041}"/>
              </a:ext>
            </a:extLst>
          </p:cNvPr>
          <p:cNvSpPr/>
          <p:nvPr/>
        </p:nvSpPr>
        <p:spPr>
          <a:xfrm>
            <a:off x="2481072" y="1681480"/>
            <a:ext cx="1885696" cy="487680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Phase 1: Bytecode</a:t>
            </a:r>
            <a:endParaRPr lang="en-US" sz="1100" dirty="0"/>
          </a:p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Exposure and Transparency</a:t>
            </a: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A875779-0088-6596-9C43-AFF79F4D5A3B}"/>
              </a:ext>
            </a:extLst>
          </p:cNvPr>
          <p:cNvSpPr/>
          <p:nvPr/>
        </p:nvSpPr>
        <p:spPr>
          <a:xfrm>
            <a:off x="2361639" y="1739785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Autofit/>
          </a:bodyPr>
          <a:lstStyle/>
          <a:p>
            <a:pPr algn="ctr"/>
            <a:r>
              <a:rPr lang="en-US" sz="1100" b="1" dirty="0">
                <a:solidFill>
                  <a:srgbClr val="00B0F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RQ1</a:t>
            </a:r>
            <a:endParaRPr lang="en-US" sz="1100" b="1" dirty="0">
              <a:solidFill>
                <a:srgbClr val="00B0F0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6195968-6001-BB25-1AF4-DF839ED96CA5}"/>
              </a:ext>
            </a:extLst>
          </p:cNvPr>
          <p:cNvSpPr/>
          <p:nvPr/>
        </p:nvSpPr>
        <p:spPr>
          <a:xfrm>
            <a:off x="2425086" y="2282952"/>
            <a:ext cx="1972150" cy="100640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scan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      artifacts</a:t>
            </a:r>
            <a:endParaRPr lang="en-US" sz="1100" dirty="0"/>
          </a:p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identify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.pyc files</a:t>
            </a:r>
            <a:endParaRPr lang="en-US" sz="1100" dirty="0"/>
          </a:p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identify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</a:t>
            </a:r>
            <a:r>
              <a:rPr lang="en-US" sz="1100" dirty="0" err="1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pycache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directories</a:t>
            </a:r>
            <a:endParaRPr lang="en-US" sz="1100" dirty="0"/>
          </a:p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identify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source files</a:t>
            </a:r>
            <a:endParaRPr lang="en-US" sz="1100" dirty="0"/>
          </a:p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identify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source-less bytecode</a:t>
            </a:r>
            <a:endParaRPr lang="en-US" sz="1100" dirty="0"/>
          </a:p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extract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 </a:t>
            </a:r>
            <a:r>
              <a:rPr lang="en-US" sz="1100" dirty="0" err="1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CPython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version evidence</a:t>
            </a:r>
            <a:endParaRPr lang="en-US" sz="11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E3C3940-849E-AA2B-609F-FFDF549F2A92}"/>
              </a:ext>
            </a:extLst>
          </p:cNvPr>
          <p:cNvSpPr/>
          <p:nvPr/>
        </p:nvSpPr>
        <p:spPr>
          <a:xfrm>
            <a:off x="2421396" y="3395638"/>
            <a:ext cx="1829816" cy="392983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bytecode prevalence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and transparency metrics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5F8B666-8795-32A2-803C-39307A3C45BF}"/>
              </a:ext>
            </a:extLst>
          </p:cNvPr>
          <p:cNvSpPr/>
          <p:nvPr/>
        </p:nvSpPr>
        <p:spPr>
          <a:xfrm>
            <a:off x="4854448" y="1707273"/>
            <a:ext cx="1511808" cy="487680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Phase 2: Practical</a:t>
            </a:r>
            <a:endParaRPr lang="en-US" sz="1100" dirty="0"/>
          </a:p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Analyzability</a:t>
            </a:r>
            <a:endParaRPr lang="en-US" sz="11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21AF46-DAFF-9C4F-55FD-A9828D4A490E}"/>
              </a:ext>
            </a:extLst>
          </p:cNvPr>
          <p:cNvSpPr/>
          <p:nvPr/>
        </p:nvSpPr>
        <p:spPr>
          <a:xfrm>
            <a:off x="4728464" y="1739785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Autofit/>
          </a:bodyPr>
          <a:lstStyle/>
          <a:p>
            <a:pPr algn="ctr"/>
            <a:r>
              <a:rPr lang="en-US" sz="1100" b="1" dirty="0">
                <a:solidFill>
                  <a:srgbClr val="00B0F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RQ2</a:t>
            </a:r>
            <a:endParaRPr lang="en-US" sz="1100" b="1" dirty="0">
              <a:solidFill>
                <a:srgbClr val="00B0F0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D3292D9-1093-8838-0B95-AC5E86C1C523}"/>
              </a:ext>
            </a:extLst>
          </p:cNvPr>
          <p:cNvSpPr/>
          <p:nvPr/>
        </p:nvSpPr>
        <p:spPr>
          <a:xfrm>
            <a:off x="4790440" y="2310735"/>
            <a:ext cx="1575816" cy="103111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version-matched analysis 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: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 CPython marshal/dis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 uncompyle6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 decompyle3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 pycdc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 PyLingual</a:t>
            </a:r>
            <a:endParaRPr lang="en-US" sz="11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5F57FD3-C799-B834-1F2A-4F730750AAAF}"/>
              </a:ext>
            </a:extLst>
          </p:cNvPr>
          <p:cNvSpPr/>
          <p:nvPr/>
        </p:nvSpPr>
        <p:spPr>
          <a:xfrm>
            <a:off x="4786014" y="3395638"/>
            <a:ext cx="1580242" cy="35340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analyzability levels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and failure reasons</a:t>
            </a:r>
            <a:endParaRPr lang="en-US" sz="11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4B52421-F9A7-7759-B8E8-E822E44E9856}"/>
              </a:ext>
            </a:extLst>
          </p:cNvPr>
          <p:cNvSpPr/>
          <p:nvPr/>
        </p:nvSpPr>
        <p:spPr>
          <a:xfrm>
            <a:off x="6931511" y="1754557"/>
            <a:ext cx="1471168" cy="417945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Phase 3: Interpreter</a:t>
            </a:r>
            <a:endParaRPr lang="en-US" sz="1100" dirty="0"/>
          </a:p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Robustness</a:t>
            </a:r>
            <a:endParaRPr lang="en-US" sz="11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6C092BA-DD4B-1659-3C06-5C961B735C64}"/>
              </a:ext>
            </a:extLst>
          </p:cNvPr>
          <p:cNvSpPr/>
          <p:nvPr/>
        </p:nvSpPr>
        <p:spPr>
          <a:xfrm>
            <a:off x="6707901" y="1743004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Autofit/>
          </a:bodyPr>
          <a:lstStyle/>
          <a:p>
            <a:pPr algn="ctr"/>
            <a:r>
              <a:rPr lang="en-US" sz="1100" b="1" dirty="0">
                <a:solidFill>
                  <a:srgbClr val="00B0F0"/>
                </a:solidFill>
                <a:cs typeface="Arial" panose="020B0604020202020204" pitchFamily="34" charset="-120"/>
              </a:rPr>
              <a:t>RQ3</a:t>
            </a: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4942001-CB67-206A-D2D4-3DB6534A0267}"/>
              </a:ext>
            </a:extLst>
          </p:cNvPr>
          <p:cNvSpPr/>
          <p:nvPr/>
        </p:nvSpPr>
        <p:spPr>
          <a:xfrm>
            <a:off x="6771628" y="2339928"/>
            <a:ext cx="1519936" cy="438912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pPr algn="ctr"/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CPython-version-specific</a:t>
            </a:r>
            <a:endParaRPr lang="en-US" sz="1100" dirty="0"/>
          </a:p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bytecode fuzzing</a:t>
            </a:r>
            <a:endParaRPr lang="en-US" sz="1100" b="1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E0C3286-E660-CF74-6CA2-B66B7B74B3A3}"/>
              </a:ext>
            </a:extLst>
          </p:cNvPr>
          <p:cNvSpPr/>
          <p:nvPr/>
        </p:nvSpPr>
        <p:spPr>
          <a:xfrm>
            <a:off x="6758782" y="3375938"/>
            <a:ext cx="1653779" cy="243840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execution outcomes</a:t>
            </a:r>
            <a:endParaRPr lang="en-US" sz="11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7413EBBC-3617-95FA-6DDB-767BDD03E76D}"/>
              </a:ext>
            </a:extLst>
          </p:cNvPr>
          <p:cNvSpPr/>
          <p:nvPr/>
        </p:nvSpPr>
        <p:spPr>
          <a:xfrm>
            <a:off x="6768942" y="3525685"/>
            <a:ext cx="1623043" cy="341376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normal, exception, timeout,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crash, abort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5C904CDA-D14A-C96F-F512-CB4FC6C706DE}"/>
              </a:ext>
            </a:extLst>
          </p:cNvPr>
          <p:cNvSpPr/>
          <p:nvPr/>
        </p:nvSpPr>
        <p:spPr>
          <a:xfrm>
            <a:off x="8860629" y="1763836"/>
            <a:ext cx="1389888" cy="407291"/>
          </a:xfrm>
          <a:prstGeom prst="rect">
            <a:avLst/>
          </a:prstGeom>
          <a:noFill/>
        </p:spPr>
        <p:txBody>
          <a:bodyPr wrap="square" lIns="113" tIns="113" rIns="113" bIns="113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Phase 4: Source</a:t>
            </a:r>
            <a:endParaRPr lang="en-US" sz="1100" dirty="0"/>
          </a:p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Reproduction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4092085-7DA5-2B90-9603-0800C3ACF627}"/>
              </a:ext>
            </a:extLst>
          </p:cNvPr>
          <p:cNvSpPr/>
          <p:nvPr/>
        </p:nvSpPr>
        <p:spPr>
          <a:xfrm>
            <a:off x="8757422" y="1747667"/>
            <a:ext cx="276352" cy="211328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Autofit/>
          </a:bodyPr>
          <a:lstStyle/>
          <a:p>
            <a:pPr algn="ctr"/>
            <a:r>
              <a:rPr lang="en-US" sz="1100" b="1" dirty="0">
                <a:solidFill>
                  <a:srgbClr val="00B0F0"/>
                </a:solidFill>
                <a:cs typeface="Arial" panose="020B0604020202020204" pitchFamily="34" charset="-120"/>
              </a:rPr>
              <a:t>RQ4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A126BF5-DE4E-A354-CB67-8CC57B1F2614}"/>
              </a:ext>
            </a:extLst>
          </p:cNvPr>
          <p:cNvSpPr/>
          <p:nvPr/>
        </p:nvSpPr>
        <p:spPr>
          <a:xfrm>
            <a:off x="8825659" y="3423918"/>
            <a:ext cx="1459828" cy="443142"/>
          </a:xfrm>
          <a:prstGeom prst="rect">
            <a:avLst/>
          </a:prstGeom>
          <a:noFill/>
        </p:spPr>
        <p:txBody>
          <a:bodyPr wrap="square" lIns="113" tIns="113" rIns="113" bIns="113" rtlCol="0" anchor="t">
            <a:normAutofit/>
          </a:bodyPr>
          <a:lstStyle/>
          <a:p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Output: </a:t>
            </a:r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reproduced /</a:t>
            </a:r>
            <a:endParaRPr lang="en-US" sz="1100" dirty="0"/>
          </a:p>
          <a:p>
            <a:r>
              <a:rPr lang="en-US" sz="1100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not reproduced</a:t>
            </a:r>
            <a:endParaRPr lang="en-US" sz="1100" dirty="0"/>
          </a:p>
        </p:txBody>
      </p:sp>
      <p:sp>
        <p:nvSpPr>
          <p:cNvPr id="37" name="Shape 9">
            <a:extLst>
              <a:ext uri="{FF2B5EF4-FFF2-40B4-BE49-F238E27FC236}">
                <a16:creationId xmlns:a16="http://schemas.microsoft.com/office/drawing/2014/main" id="{ED23791E-0224-4735-EA3C-3D80D510588C}"/>
              </a:ext>
            </a:extLst>
          </p:cNvPr>
          <p:cNvSpPr/>
          <p:nvPr/>
        </p:nvSpPr>
        <p:spPr>
          <a:xfrm>
            <a:off x="2311774" y="3344320"/>
            <a:ext cx="2093614" cy="4063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59CFC10B-A084-0DE0-6EA7-F53CA76AEE51}"/>
              </a:ext>
            </a:extLst>
          </p:cNvPr>
          <p:cNvSpPr/>
          <p:nvPr/>
        </p:nvSpPr>
        <p:spPr>
          <a:xfrm flipV="1">
            <a:off x="4691888" y="2191343"/>
            <a:ext cx="1702816" cy="1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39" name="Shape 11">
            <a:extLst>
              <a:ext uri="{FF2B5EF4-FFF2-40B4-BE49-F238E27FC236}">
                <a16:creationId xmlns:a16="http://schemas.microsoft.com/office/drawing/2014/main" id="{8ECAA57D-24FB-29D8-A8DF-9478154351F6}"/>
              </a:ext>
            </a:extLst>
          </p:cNvPr>
          <p:cNvSpPr/>
          <p:nvPr/>
        </p:nvSpPr>
        <p:spPr>
          <a:xfrm flipV="1">
            <a:off x="6681665" y="3369227"/>
            <a:ext cx="1748629" cy="5679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40" name="Shape 11">
            <a:extLst>
              <a:ext uri="{FF2B5EF4-FFF2-40B4-BE49-F238E27FC236}">
                <a16:creationId xmlns:a16="http://schemas.microsoft.com/office/drawing/2014/main" id="{ED539D16-32A6-1ACB-571C-C6AC1474E168}"/>
              </a:ext>
            </a:extLst>
          </p:cNvPr>
          <p:cNvSpPr/>
          <p:nvPr/>
        </p:nvSpPr>
        <p:spPr>
          <a:xfrm flipV="1">
            <a:off x="8716229" y="2191343"/>
            <a:ext cx="1639200" cy="9894"/>
          </a:xfrm>
          <a:prstGeom prst="line">
            <a:avLst/>
          </a:prstGeom>
          <a:noFill/>
          <a:ln w="1143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270572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45FB3-BAB0-D47D-A724-36E7CE6B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ylinder 34">
            <a:extLst>
              <a:ext uri="{FF2B5EF4-FFF2-40B4-BE49-F238E27FC236}">
                <a16:creationId xmlns:a16="http://schemas.microsoft.com/office/drawing/2014/main" id="{32414135-1A2B-D35D-A88F-7A59C61D205D}"/>
              </a:ext>
            </a:extLst>
          </p:cNvPr>
          <p:cNvSpPr/>
          <p:nvPr/>
        </p:nvSpPr>
        <p:spPr>
          <a:xfrm>
            <a:off x="983294" y="2440698"/>
            <a:ext cx="1088698" cy="363894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</a:rPr>
              <a:t>PyPI</a:t>
            </a:r>
            <a:r>
              <a:rPr lang="en-US" sz="1100" b="1" dirty="0">
                <a:solidFill>
                  <a:schemeClr val="tx1"/>
                </a:solidFill>
              </a:rPr>
              <a:t> distributions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7AE2785-97A7-6E83-3B4D-5BE3811506FC}"/>
              </a:ext>
            </a:extLst>
          </p:cNvPr>
          <p:cNvSpPr/>
          <p:nvPr/>
        </p:nvSpPr>
        <p:spPr>
          <a:xfrm>
            <a:off x="2315183" y="2440698"/>
            <a:ext cx="943582" cy="3638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Data Collection</a:t>
            </a:r>
          </a:p>
        </p:txBody>
      </p:sp>
      <p:sp>
        <p:nvSpPr>
          <p:cNvPr id="41" name="Rectangle: Folded Corner 40">
            <a:extLst>
              <a:ext uri="{FF2B5EF4-FFF2-40B4-BE49-F238E27FC236}">
                <a16:creationId xmlns:a16="http://schemas.microsoft.com/office/drawing/2014/main" id="{86D38EEE-2196-2F8C-0EB1-1DFCFD85138D}"/>
              </a:ext>
            </a:extLst>
          </p:cNvPr>
          <p:cNvSpPr/>
          <p:nvPr/>
        </p:nvSpPr>
        <p:spPr>
          <a:xfrm>
            <a:off x="3540865" y="2440698"/>
            <a:ext cx="603114" cy="363894"/>
          </a:xfrm>
          <a:prstGeom prst="foldedCorne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Python</a:t>
            </a: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artifacts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434E9AC-5A64-C26F-DA54-580792B14BBB}"/>
              </a:ext>
            </a:extLst>
          </p:cNvPr>
          <p:cNvSpPr/>
          <p:nvPr/>
        </p:nvSpPr>
        <p:spPr>
          <a:xfrm>
            <a:off x="4426079" y="2440698"/>
            <a:ext cx="1653700" cy="3638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</a:rPr>
              <a:t>Phase 1 (RQ1): </a:t>
            </a:r>
            <a:r>
              <a:rPr lang="en-US" sz="1100" b="1" dirty="0">
                <a:solidFill>
                  <a:schemeClr val="tx1"/>
                </a:solidFill>
              </a:rPr>
              <a:t>Bytecode</a:t>
            </a: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Exposure and Transparency</a:t>
            </a:r>
          </a:p>
        </p:txBody>
      </p:sp>
      <p:sp>
        <p:nvSpPr>
          <p:cNvPr id="43" name="Rectangle: Folded Corner 42">
            <a:extLst>
              <a:ext uri="{FF2B5EF4-FFF2-40B4-BE49-F238E27FC236}">
                <a16:creationId xmlns:a16="http://schemas.microsoft.com/office/drawing/2014/main" id="{BC3D8778-75DE-09B4-576E-37597E949079}"/>
              </a:ext>
            </a:extLst>
          </p:cNvPr>
          <p:cNvSpPr/>
          <p:nvPr/>
        </p:nvSpPr>
        <p:spPr>
          <a:xfrm>
            <a:off x="6361879" y="2440745"/>
            <a:ext cx="869003" cy="363847"/>
          </a:xfrm>
          <a:prstGeom prst="foldedCorne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Artifacts with</a:t>
            </a:r>
          </a:p>
          <a:p>
            <a:pPr algn="ctr"/>
            <a:r>
              <a:rPr lang="en-US" sz="1100" b="1" dirty="0">
                <a:solidFill>
                  <a:schemeClr val="tx1"/>
                </a:solidFill>
              </a:rPr>
              <a:t>bytecode</a:t>
            </a:r>
          </a:p>
        </p:txBody>
      </p:sp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C995463F-143D-4A45-F51B-C6D23C1CEC3B}"/>
              </a:ext>
            </a:extLst>
          </p:cNvPr>
          <p:cNvSpPr/>
          <p:nvPr/>
        </p:nvSpPr>
        <p:spPr>
          <a:xfrm>
            <a:off x="4880036" y="3065106"/>
            <a:ext cx="745786" cy="363894"/>
          </a:xfrm>
          <a:prstGeom prst="foldedCorne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Python</a:t>
            </a:r>
          </a:p>
          <a:p>
            <a:pPr algn="ctr"/>
            <a:r>
              <a:rPr lang="en-US" sz="1100" b="1" dirty="0">
                <a:solidFill>
                  <a:schemeClr val="tx1"/>
                </a:solidFill>
              </a:rPr>
              <a:t>version list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1BB7190-E549-DFD1-C6AA-4625A994AC57}"/>
              </a:ext>
            </a:extLst>
          </p:cNvPr>
          <p:cNvSpPr/>
          <p:nvPr/>
        </p:nvSpPr>
        <p:spPr>
          <a:xfrm>
            <a:off x="7528401" y="2440698"/>
            <a:ext cx="1430773" cy="3638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</a:rPr>
              <a:t>Phase 2 (RQ2): </a:t>
            </a:r>
            <a:r>
              <a:rPr lang="en-US" sz="1100" b="1" dirty="0">
                <a:solidFill>
                  <a:schemeClr val="tx1"/>
                </a:solidFill>
              </a:rPr>
              <a:t>Practical</a:t>
            </a: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Analyzability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03D5CD-643A-68D7-87C5-CD51CC2D4EBC}"/>
              </a:ext>
            </a:extLst>
          </p:cNvPr>
          <p:cNvSpPr/>
          <p:nvPr/>
        </p:nvSpPr>
        <p:spPr>
          <a:xfrm>
            <a:off x="5907108" y="3065106"/>
            <a:ext cx="2306280" cy="3638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</a:rPr>
              <a:t>Phase 3 (RQ3): </a:t>
            </a:r>
            <a:r>
              <a:rPr lang="en-US" sz="1100" b="1" dirty="0">
                <a:solidFill>
                  <a:schemeClr val="tx1"/>
                </a:solidFill>
              </a:rPr>
              <a:t>Interpreter Robustness</a:t>
            </a: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Under Adversarial Bytecode</a:t>
            </a:r>
          </a:p>
        </p:txBody>
      </p:sp>
      <p:sp>
        <p:nvSpPr>
          <p:cNvPr id="47" name="Rectangle: Folded Corner 46">
            <a:extLst>
              <a:ext uri="{FF2B5EF4-FFF2-40B4-BE49-F238E27FC236}">
                <a16:creationId xmlns:a16="http://schemas.microsoft.com/office/drawing/2014/main" id="{E884DA6B-01F8-C43D-E9A5-FF172B574073}"/>
              </a:ext>
            </a:extLst>
          </p:cNvPr>
          <p:cNvSpPr/>
          <p:nvPr/>
        </p:nvSpPr>
        <p:spPr>
          <a:xfrm>
            <a:off x="8494674" y="3065106"/>
            <a:ext cx="745786" cy="363894"/>
          </a:xfrm>
          <a:prstGeom prst="foldedCorne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Adversarial</a:t>
            </a:r>
          </a:p>
          <a:p>
            <a:pPr algn="ctr"/>
            <a:r>
              <a:rPr lang="en-US" sz="1100" b="1" dirty="0">
                <a:solidFill>
                  <a:schemeClr val="tx1"/>
                </a:solidFill>
              </a:rPr>
              <a:t>bytecode</a:t>
            </a:r>
            <a:r>
              <a:rPr lang="en-US" altLang="zh-CN" sz="1100" b="1" dirty="0">
                <a:solidFill>
                  <a:schemeClr val="tx1"/>
                </a:solidFill>
              </a:rPr>
              <a:t>s</a:t>
            </a:r>
            <a:endParaRPr lang="en-US" sz="1100" b="1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D42CC3E-DCD0-9957-E12E-7FC0E974749F}"/>
              </a:ext>
            </a:extLst>
          </p:cNvPr>
          <p:cNvSpPr/>
          <p:nvPr/>
        </p:nvSpPr>
        <p:spPr>
          <a:xfrm>
            <a:off x="9521746" y="3065106"/>
            <a:ext cx="2172506" cy="3638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</a:rPr>
              <a:t>Phase 4 (RQ4): </a:t>
            </a:r>
            <a:r>
              <a:rPr lang="en-US" sz="1100" b="1" dirty="0">
                <a:solidFill>
                  <a:schemeClr val="tx1"/>
                </a:solidFill>
              </a:rPr>
              <a:t>Source-Reproduction</a:t>
            </a: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Analysis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9C5B246-4C24-18E1-C035-33BE75657357}"/>
              </a:ext>
            </a:extLst>
          </p:cNvPr>
          <p:cNvCxnSpPr>
            <a:cxnSpLocks/>
            <a:stCxn id="35" idx="4"/>
            <a:endCxn id="36" idx="1"/>
          </p:cNvCxnSpPr>
          <p:nvPr/>
        </p:nvCxnSpPr>
        <p:spPr>
          <a:xfrm>
            <a:off x="2071992" y="2622645"/>
            <a:ext cx="2431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9E6DEFB-C4A6-57C9-C5FD-3DA9D4ACB01F}"/>
              </a:ext>
            </a:extLst>
          </p:cNvPr>
          <p:cNvCxnSpPr>
            <a:stCxn id="41" idx="3"/>
            <a:endCxn id="42" idx="1"/>
          </p:cNvCxnSpPr>
          <p:nvPr/>
        </p:nvCxnSpPr>
        <p:spPr>
          <a:xfrm>
            <a:off x="4143979" y="2622645"/>
            <a:ext cx="282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6586230-FAED-2DE7-BD24-EB9B9A57EC1A}"/>
              </a:ext>
            </a:extLst>
          </p:cNvPr>
          <p:cNvCxnSpPr>
            <a:stCxn id="36" idx="3"/>
            <a:endCxn id="41" idx="1"/>
          </p:cNvCxnSpPr>
          <p:nvPr/>
        </p:nvCxnSpPr>
        <p:spPr>
          <a:xfrm>
            <a:off x="3258765" y="2622645"/>
            <a:ext cx="282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89AB159-968C-4747-F9A0-BACE443871E9}"/>
              </a:ext>
            </a:extLst>
          </p:cNvPr>
          <p:cNvCxnSpPr>
            <a:stCxn id="42" idx="3"/>
            <a:endCxn id="43" idx="1"/>
          </p:cNvCxnSpPr>
          <p:nvPr/>
        </p:nvCxnSpPr>
        <p:spPr>
          <a:xfrm>
            <a:off x="6079779" y="2622645"/>
            <a:ext cx="282100" cy="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F023349-F811-4024-95B9-D290DF3B48AD}"/>
              </a:ext>
            </a:extLst>
          </p:cNvPr>
          <p:cNvCxnSpPr>
            <a:cxnSpLocks/>
            <a:stCxn id="43" idx="3"/>
            <a:endCxn id="45" idx="1"/>
          </p:cNvCxnSpPr>
          <p:nvPr/>
        </p:nvCxnSpPr>
        <p:spPr>
          <a:xfrm flipV="1">
            <a:off x="7230882" y="2622645"/>
            <a:ext cx="297519" cy="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B364682-689A-2FFF-0409-CEB6286D5FC1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>
            <a:off x="5625822" y="3247053"/>
            <a:ext cx="2812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0154382-358E-4FD9-DDD6-0A05BDD4BC60}"/>
              </a:ext>
            </a:extLst>
          </p:cNvPr>
          <p:cNvCxnSpPr>
            <a:cxnSpLocks/>
            <a:stCxn id="46" idx="3"/>
            <a:endCxn id="47" idx="1"/>
          </p:cNvCxnSpPr>
          <p:nvPr/>
        </p:nvCxnSpPr>
        <p:spPr>
          <a:xfrm>
            <a:off x="8213388" y="3247053"/>
            <a:ext cx="2812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4D4E979-AFC3-A185-9196-62B5CA0D2383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9240460" y="3247053"/>
            <a:ext cx="2812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CDD0DA9-1EF2-581A-C770-E069AB6B2239}"/>
              </a:ext>
            </a:extLst>
          </p:cNvPr>
          <p:cNvCxnSpPr>
            <a:stCxn id="42" idx="2"/>
            <a:endCxn id="44" idx="0"/>
          </p:cNvCxnSpPr>
          <p:nvPr/>
        </p:nvCxnSpPr>
        <p:spPr>
          <a:xfrm>
            <a:off x="5252929" y="2804592"/>
            <a:ext cx="0" cy="260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263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89760" y="1869440"/>
            <a:ext cx="7886700" cy="3124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76400" y="3202940"/>
            <a:ext cx="365760" cy="0"/>
          </a:xfrm>
          <a:prstGeom prst="line">
            <a:avLst/>
          </a:prstGeom>
          <a:noFill/>
          <a:ln w="17780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34740" y="3202940"/>
            <a:ext cx="297180" cy="0"/>
          </a:xfrm>
          <a:prstGeom prst="line">
            <a:avLst/>
          </a:prstGeom>
          <a:noFill/>
          <a:ln w="17780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623560" y="3202940"/>
            <a:ext cx="289560" cy="0"/>
          </a:xfrm>
          <a:prstGeom prst="line">
            <a:avLst/>
          </a:prstGeom>
          <a:noFill/>
          <a:ln w="17780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82840" y="3202940"/>
            <a:ext cx="289560" cy="0"/>
          </a:xfrm>
          <a:prstGeom prst="line">
            <a:avLst/>
          </a:prstGeom>
          <a:noFill/>
          <a:ln w="17780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540240" y="3202940"/>
            <a:ext cx="411480" cy="0"/>
          </a:xfrm>
          <a:prstGeom prst="line">
            <a:avLst/>
          </a:prstGeom>
          <a:noFill/>
          <a:ln w="17780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838450" y="3804920"/>
            <a:ext cx="0" cy="243840"/>
          </a:xfrm>
          <a:prstGeom prst="line">
            <a:avLst/>
          </a:prstGeom>
          <a:noFill/>
          <a:ln w="10160">
            <a:solidFill>
              <a:srgbClr val="55555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56320" y="3804920"/>
            <a:ext cx="0" cy="243840"/>
          </a:xfrm>
          <a:prstGeom prst="line">
            <a:avLst/>
          </a:prstGeom>
          <a:noFill/>
          <a:ln w="10160">
            <a:solidFill>
              <a:srgbClr val="55555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20440" y="1968500"/>
            <a:ext cx="4648200" cy="213360"/>
          </a:xfrm>
          <a:prstGeom prst="rect">
            <a:avLst/>
          </a:prstGeom>
          <a:noFill/>
        </p:spPr>
        <p:txBody>
          <a:bodyPr wrap="square" lIns="212" tIns="212" rIns="212" bIns="212" rtlCol="0" anchor="ctr">
            <a:normAutofit/>
          </a:bodyPr>
          <a:lstStyle/>
          <a:p>
            <a:pPr algn="ctr"/>
            <a:r>
              <a:rPr lang="en-US" sz="1208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Repeat independently for each CPython version.</a:t>
            </a:r>
            <a:endParaRPr lang="en-US" sz="1208" dirty="0"/>
          </a:p>
        </p:txBody>
      </p:sp>
      <p:sp>
        <p:nvSpPr>
          <p:cNvPr id="11" name="Text 9"/>
          <p:cNvSpPr/>
          <p:nvPr/>
        </p:nvSpPr>
        <p:spPr>
          <a:xfrm>
            <a:off x="228600" y="2654300"/>
            <a:ext cx="14325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058" tIns="1058" rIns="1058" bIns="1058" rtlCol="0" anchor="ctr">
            <a:normAutofit/>
          </a:bodyPr>
          <a:lstStyle/>
          <a:p>
            <a:pPr algn="ctr"/>
            <a:r>
              <a:rPr lang="en-US" sz="1275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Set of CPython</a:t>
            </a:r>
            <a:endParaRPr lang="en-US" sz="1275" dirty="0"/>
          </a:p>
          <a:p>
            <a:pPr algn="ctr"/>
            <a:r>
              <a:rPr lang="en-US" sz="1275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versions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2057400" y="2578100"/>
            <a:ext cx="1562100" cy="120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058" tIns="1058" rIns="1058" bIns="1058" rtlCol="0" anchor="ctr">
            <a:normAutofit/>
          </a:bodyPr>
          <a:lstStyle/>
          <a:p>
            <a:pPr algn="ctr"/>
            <a:r>
              <a:rPr lang="en-US" sz="1192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Extract seeds</a:t>
            </a:r>
            <a:endParaRPr lang="en-US" sz="1192" dirty="0"/>
          </a:p>
          <a:p>
            <a:pPr algn="ctr"/>
            <a:r>
              <a:rPr lang="en-US" sz="1192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from CPython</a:t>
            </a:r>
            <a:endParaRPr lang="en-US" sz="1192" dirty="0"/>
          </a:p>
          <a:p>
            <a:pPr algn="ctr"/>
            <a:r>
              <a:rPr lang="en-US" sz="1192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unittests</a:t>
            </a:r>
            <a:endParaRPr lang="en-US" sz="1192" dirty="0"/>
          </a:p>
        </p:txBody>
      </p:sp>
      <p:sp>
        <p:nvSpPr>
          <p:cNvPr id="13" name="Text 11"/>
          <p:cNvSpPr/>
          <p:nvPr/>
        </p:nvSpPr>
        <p:spPr>
          <a:xfrm>
            <a:off x="3947160" y="2578100"/>
            <a:ext cx="1661160" cy="120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058" tIns="1058" rIns="1058" bIns="1058" rtlCol="0" anchor="ctr">
            <a:normAutofit/>
          </a:bodyPr>
          <a:lstStyle/>
          <a:p>
            <a:pPr algn="ctr"/>
            <a:r>
              <a:rPr lang="en-US" sz="1158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Compile seeds to</a:t>
            </a:r>
            <a:endParaRPr lang="en-US" sz="1158" dirty="0"/>
          </a:p>
          <a:p>
            <a:pPr algn="ctr"/>
            <a:r>
              <a:rPr lang="en-US" sz="1158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version-matched</a:t>
            </a:r>
            <a:endParaRPr lang="en-US" sz="1158" dirty="0"/>
          </a:p>
          <a:p>
            <a:pPr algn="ctr"/>
            <a:r>
              <a:rPr lang="en-US" sz="1158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.pyc corpus</a:t>
            </a:r>
            <a:endParaRPr lang="en-US" sz="1158" dirty="0"/>
          </a:p>
        </p:txBody>
      </p:sp>
      <p:sp>
        <p:nvSpPr>
          <p:cNvPr id="14" name="Text 12"/>
          <p:cNvSpPr/>
          <p:nvPr/>
        </p:nvSpPr>
        <p:spPr>
          <a:xfrm>
            <a:off x="5928360" y="2578100"/>
            <a:ext cx="1539240" cy="120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058" tIns="1058" rIns="1058" bIns="1058" rtlCol="0" anchor="ctr">
            <a:normAutofit/>
          </a:bodyPr>
          <a:lstStyle/>
          <a:p>
            <a:pPr algn="ctr"/>
            <a:r>
              <a:rPr lang="en-US" sz="1192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Feed corpus to</a:t>
            </a:r>
            <a:endParaRPr lang="en-US" sz="1192" dirty="0"/>
          </a:p>
          <a:p>
            <a:pPr algn="ctr"/>
            <a:r>
              <a:rPr lang="en-US" sz="1192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honggfuzz</a:t>
            </a:r>
            <a:endParaRPr lang="en-US" sz="1192" dirty="0"/>
          </a:p>
          <a:p>
            <a:pPr algn="ctr"/>
            <a:r>
              <a:rPr lang="en-US" sz="1192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backend</a:t>
            </a:r>
            <a:endParaRPr lang="en-US" sz="1192" dirty="0"/>
          </a:p>
        </p:txBody>
      </p:sp>
      <p:sp>
        <p:nvSpPr>
          <p:cNvPr id="15" name="Text 13"/>
          <p:cNvSpPr/>
          <p:nvPr/>
        </p:nvSpPr>
        <p:spPr>
          <a:xfrm>
            <a:off x="7787640" y="2578100"/>
            <a:ext cx="1737360" cy="120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058" tIns="1058" rIns="1058" bIns="1058" rtlCol="0" anchor="ctr">
            <a:normAutofit/>
          </a:bodyPr>
          <a:lstStyle/>
          <a:p>
            <a:pPr algn="ctr"/>
            <a:r>
              <a:rPr lang="en-US" sz="1083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Execute mutated</a:t>
            </a:r>
            <a:endParaRPr lang="en-US" sz="1083" dirty="0"/>
          </a:p>
          <a:p>
            <a:pPr algn="ctr"/>
            <a:r>
              <a:rPr lang="en-US" sz="1083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bytecode with</a:t>
            </a:r>
            <a:endParaRPr lang="en-US" sz="1083" dirty="0"/>
          </a:p>
          <a:p>
            <a:pPr algn="ctr"/>
            <a:r>
              <a:rPr lang="en-US" sz="1083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matching CPython</a:t>
            </a:r>
            <a:endParaRPr lang="en-US" sz="1083" dirty="0"/>
          </a:p>
          <a:p>
            <a:pPr algn="ctr"/>
            <a:r>
              <a:rPr lang="en-US" sz="1083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interpreter</a:t>
            </a:r>
            <a:endParaRPr lang="en-US" sz="1083" dirty="0"/>
          </a:p>
        </p:txBody>
      </p:sp>
      <p:sp>
        <p:nvSpPr>
          <p:cNvPr id="16" name="Shape 14"/>
          <p:cNvSpPr/>
          <p:nvPr/>
        </p:nvSpPr>
        <p:spPr>
          <a:xfrm>
            <a:off x="9966960" y="2296160"/>
            <a:ext cx="1996440" cy="2072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88880" y="2433320"/>
            <a:ext cx="1752600" cy="243840"/>
          </a:xfrm>
          <a:prstGeom prst="rect">
            <a:avLst/>
          </a:prstGeom>
          <a:noFill/>
        </p:spPr>
        <p:txBody>
          <a:bodyPr wrap="square" lIns="212" tIns="212" rIns="212" bIns="212" rtlCol="0" anchor="ctr">
            <a:normAutofit/>
          </a:bodyPr>
          <a:lstStyle/>
          <a:p>
            <a:pPr algn="ctr"/>
            <a:r>
              <a:rPr lang="en-US" sz="1183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Execution outcomes</a:t>
            </a:r>
            <a:endParaRPr lang="en-US" sz="1183" dirty="0"/>
          </a:p>
        </p:txBody>
      </p:sp>
      <p:sp>
        <p:nvSpPr>
          <p:cNvPr id="18" name="Text 16"/>
          <p:cNvSpPr/>
          <p:nvPr/>
        </p:nvSpPr>
        <p:spPr>
          <a:xfrm>
            <a:off x="10119360" y="2768600"/>
            <a:ext cx="1737360" cy="1493520"/>
          </a:xfrm>
          <a:prstGeom prst="rect">
            <a:avLst/>
          </a:prstGeom>
          <a:noFill/>
        </p:spPr>
        <p:txBody>
          <a:bodyPr wrap="square" lIns="212" tIns="212" rIns="212" bIns="212" rtlCol="0" anchor="t">
            <a:normAutofit/>
          </a:bodyPr>
          <a:lstStyle/>
          <a:p>
            <a:r>
              <a:rPr lang="en-US" sz="93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normal execution</a:t>
            </a:r>
            <a:endParaRPr lang="en-US" sz="933" dirty="0"/>
          </a:p>
          <a:p>
            <a:r>
              <a:rPr lang="en-US" sz="93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Python-level exception</a:t>
            </a:r>
            <a:endParaRPr lang="en-US" sz="933" dirty="0"/>
          </a:p>
          <a:p>
            <a:r>
              <a:rPr lang="en-US" sz="93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timeout</a:t>
            </a:r>
            <a:endParaRPr lang="en-US" sz="933" dirty="0"/>
          </a:p>
          <a:p>
            <a:r>
              <a:rPr lang="en-US" sz="93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crash</a:t>
            </a:r>
            <a:endParaRPr lang="en-US" sz="933" dirty="0"/>
          </a:p>
          <a:p>
            <a:r>
              <a:rPr lang="en-US" sz="93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abort</a:t>
            </a:r>
            <a:endParaRPr lang="en-US" sz="933" dirty="0"/>
          </a:p>
          <a:p>
            <a:r>
              <a:rPr lang="en-US" sz="933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other abnormal termination</a:t>
            </a:r>
            <a:endParaRPr lang="en-US" sz="933" dirty="0"/>
          </a:p>
        </p:txBody>
      </p:sp>
      <p:sp>
        <p:nvSpPr>
          <p:cNvPr id="19" name="Text 17"/>
          <p:cNvSpPr/>
          <p:nvPr/>
        </p:nvSpPr>
        <p:spPr>
          <a:xfrm>
            <a:off x="2095500" y="4102100"/>
            <a:ext cx="1485900" cy="624840"/>
          </a:xfrm>
          <a:prstGeom prst="rect">
            <a:avLst/>
          </a:prstGeom>
          <a:noFill/>
        </p:spPr>
        <p:txBody>
          <a:bodyPr wrap="square" lIns="318" tIns="318" rIns="318" bIns="318" rtlCol="0" anchor="ctr">
            <a:normAutofit/>
          </a:bodyPr>
          <a:lstStyle/>
          <a:p>
            <a:pPr algn="ctr"/>
            <a:r>
              <a:rPr lang="en-US" sz="875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Unittest seeds cover</a:t>
            </a:r>
            <a:endParaRPr lang="en-US" sz="875" dirty="0"/>
          </a:p>
          <a:p>
            <a:pPr algn="ctr"/>
            <a:r>
              <a:rPr lang="en-US" sz="875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core language/runtime</a:t>
            </a:r>
            <a:endParaRPr lang="en-US" sz="875" dirty="0"/>
          </a:p>
          <a:p>
            <a:pPr algn="ctr"/>
            <a:r>
              <a:rPr lang="en-US" sz="875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functionality.</a:t>
            </a:r>
            <a:endParaRPr lang="en-US" sz="875" dirty="0"/>
          </a:p>
        </p:txBody>
      </p:sp>
      <p:sp>
        <p:nvSpPr>
          <p:cNvPr id="20" name="Text 18"/>
          <p:cNvSpPr/>
          <p:nvPr/>
        </p:nvSpPr>
        <p:spPr>
          <a:xfrm>
            <a:off x="7840980" y="4102100"/>
            <a:ext cx="1630680" cy="624840"/>
          </a:xfrm>
          <a:prstGeom prst="rect">
            <a:avLst/>
          </a:prstGeom>
          <a:noFill/>
        </p:spPr>
        <p:txBody>
          <a:bodyPr wrap="square" lIns="318" tIns="318" rIns="318" bIns="318" rtlCol="0" anchor="ctr">
            <a:normAutofit/>
          </a:bodyPr>
          <a:lstStyle/>
          <a:p>
            <a:pPr algn="ctr"/>
            <a:r>
              <a:rPr lang="en-US" sz="875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Runs bounded by</a:t>
            </a:r>
            <a:endParaRPr lang="en-US" sz="875" dirty="0"/>
          </a:p>
          <a:p>
            <a:pPr algn="ctr"/>
            <a:r>
              <a:rPr lang="en-US" sz="875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timeout and process</a:t>
            </a:r>
            <a:endParaRPr lang="en-US" sz="875" dirty="0"/>
          </a:p>
          <a:p>
            <a:pPr algn="ctr"/>
            <a:r>
              <a:rPr lang="en-US" sz="875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isolation.</a:t>
            </a:r>
            <a:endParaRPr lang="en-US" sz="8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410AA-2FE1-63F9-B70D-F1D40B031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4F347BB5-B7DD-1E73-F278-E031A1830DA1}"/>
              </a:ext>
            </a:extLst>
          </p:cNvPr>
          <p:cNvSpPr/>
          <p:nvPr/>
        </p:nvSpPr>
        <p:spPr>
          <a:xfrm>
            <a:off x="2556588" y="2402732"/>
            <a:ext cx="4940325" cy="61284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E59F5B2-A82E-9851-62F2-398F8131147C}"/>
              </a:ext>
            </a:extLst>
          </p:cNvPr>
          <p:cNvCxnSpPr>
            <a:cxnSpLocks/>
            <a:stCxn id="50" idx="3"/>
            <a:endCxn id="29" idx="1"/>
          </p:cNvCxnSpPr>
          <p:nvPr/>
        </p:nvCxnSpPr>
        <p:spPr>
          <a:xfrm>
            <a:off x="2430781" y="2700020"/>
            <a:ext cx="2552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739A206-B08E-2BE4-EBE4-F7D475D4B4F3}"/>
              </a:ext>
            </a:extLst>
          </p:cNvPr>
          <p:cNvSpPr/>
          <p:nvPr/>
        </p:nvSpPr>
        <p:spPr>
          <a:xfrm>
            <a:off x="2686052" y="2513395"/>
            <a:ext cx="1432559" cy="3732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Extract seeds</a:t>
            </a: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from </a:t>
            </a:r>
            <a:r>
              <a:rPr lang="en-US" sz="1100" b="1" dirty="0" err="1">
                <a:solidFill>
                  <a:schemeClr val="tx1"/>
                </a:solidFill>
              </a:rPr>
              <a:t>C</a:t>
            </a:r>
            <a:r>
              <a:rPr lang="en-US" altLang="zh-CN" sz="1100" b="1" dirty="0" err="1">
                <a:solidFill>
                  <a:schemeClr val="tx1"/>
                </a:solidFill>
              </a:rPr>
              <a:t>P</a:t>
            </a:r>
            <a:r>
              <a:rPr lang="en-US" sz="1100" b="1" dirty="0" err="1">
                <a:solidFill>
                  <a:schemeClr val="tx1"/>
                </a:solidFill>
              </a:rPr>
              <a:t>ython</a:t>
            </a:r>
            <a:r>
              <a:rPr lang="en-US" sz="1100" b="1" dirty="0">
                <a:solidFill>
                  <a:schemeClr val="tx1"/>
                </a:solidFill>
              </a:rPr>
              <a:t> </a:t>
            </a:r>
            <a:r>
              <a:rPr lang="en-US" sz="1100" b="1" dirty="0" err="1">
                <a:solidFill>
                  <a:schemeClr val="tx1"/>
                </a:solidFill>
              </a:rPr>
              <a:t>unittests</a:t>
            </a:r>
            <a:endParaRPr lang="en-US" sz="1100" b="1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A5758-C046-5450-4C05-A5A5734D4F6E}"/>
              </a:ext>
            </a:extLst>
          </p:cNvPr>
          <p:cNvSpPr/>
          <p:nvPr/>
        </p:nvSpPr>
        <p:spPr>
          <a:xfrm>
            <a:off x="4339588" y="2513395"/>
            <a:ext cx="1539241" cy="3732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Compile seeds to version-matched .</a:t>
            </a:r>
            <a:r>
              <a:rPr lang="en-US" sz="1100" b="1" dirty="0" err="1">
                <a:solidFill>
                  <a:schemeClr val="tx1"/>
                </a:solidFill>
              </a:rPr>
              <a:t>pyc</a:t>
            </a:r>
            <a:r>
              <a:rPr lang="en-US" sz="1100" b="1" dirty="0">
                <a:solidFill>
                  <a:schemeClr val="tx1"/>
                </a:solidFill>
              </a:rPr>
              <a:t> corpus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6900385-C890-288C-9C31-16952798B294}"/>
              </a:ext>
            </a:extLst>
          </p:cNvPr>
          <p:cNvCxnSpPr>
            <a:cxnSpLocks/>
            <a:stCxn id="29" idx="3"/>
            <a:endCxn id="32" idx="1"/>
          </p:cNvCxnSpPr>
          <p:nvPr/>
        </p:nvCxnSpPr>
        <p:spPr>
          <a:xfrm>
            <a:off x="4118611" y="2700020"/>
            <a:ext cx="2209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8C306EAD-B67E-FA8D-E4F3-9F5922402D95}"/>
              </a:ext>
            </a:extLst>
          </p:cNvPr>
          <p:cNvSpPr/>
          <p:nvPr/>
        </p:nvSpPr>
        <p:spPr>
          <a:xfrm>
            <a:off x="6134100" y="2513395"/>
            <a:ext cx="1227753" cy="3732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Fuzz </a:t>
            </a:r>
            <a:r>
              <a:rPr lang="en-US" sz="1100" b="1" dirty="0" err="1">
                <a:solidFill>
                  <a:schemeClr val="tx1"/>
                </a:solidFill>
              </a:rPr>
              <a:t>CPython</a:t>
            </a:r>
            <a:r>
              <a:rPr lang="en-US" sz="1100" b="1" dirty="0">
                <a:solidFill>
                  <a:schemeClr val="tx1"/>
                </a:solidFill>
              </a:rPr>
              <a:t> with </a:t>
            </a: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mutated bytecode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E20AFCC-A2C6-1824-002A-4A91045EF298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878829" y="2700020"/>
            <a:ext cx="2552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: Folded Corner 49">
            <a:extLst>
              <a:ext uri="{FF2B5EF4-FFF2-40B4-BE49-F238E27FC236}">
                <a16:creationId xmlns:a16="http://schemas.microsoft.com/office/drawing/2014/main" id="{66ECA80E-F35D-E2BF-EB64-37C3F8BF3176}"/>
              </a:ext>
            </a:extLst>
          </p:cNvPr>
          <p:cNvSpPr/>
          <p:nvPr/>
        </p:nvSpPr>
        <p:spPr>
          <a:xfrm>
            <a:off x="1470661" y="2513395"/>
            <a:ext cx="960120" cy="373250"/>
          </a:xfrm>
          <a:prstGeom prst="foldedCorne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91440" rIns="0" bIns="0" rtlCol="0" anchor="ctr"/>
          <a:lstStyle/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Set of </a:t>
            </a:r>
            <a:r>
              <a:rPr lang="en-US" sz="1100" b="1" dirty="0" err="1">
                <a:solidFill>
                  <a:schemeClr val="tx1"/>
                </a:solidFill>
              </a:rPr>
              <a:t>CPython</a:t>
            </a:r>
            <a:endParaRPr lang="en-US" sz="1100" b="1" dirty="0">
              <a:solidFill>
                <a:schemeClr val="tx1"/>
              </a:solidFill>
            </a:endParaRPr>
          </a:p>
          <a:p>
            <a:pPr algn="ctr"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versions</a:t>
            </a:r>
          </a:p>
        </p:txBody>
      </p:sp>
      <p:sp>
        <p:nvSpPr>
          <p:cNvPr id="51" name="Rectangle: Folded Corner 50">
            <a:extLst>
              <a:ext uri="{FF2B5EF4-FFF2-40B4-BE49-F238E27FC236}">
                <a16:creationId xmlns:a16="http://schemas.microsoft.com/office/drawing/2014/main" id="{DD25DCD5-4CC8-3FD8-5B7A-2281EF7B0EEE}"/>
              </a:ext>
            </a:extLst>
          </p:cNvPr>
          <p:cNvSpPr/>
          <p:nvPr/>
        </p:nvSpPr>
        <p:spPr>
          <a:xfrm>
            <a:off x="7626377" y="2476500"/>
            <a:ext cx="1441266" cy="447040"/>
          </a:xfrm>
          <a:prstGeom prst="foldedCorne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91440" rIns="0" bIns="0" rtlCol="0" anchor="ctr"/>
          <a:lstStyle/>
          <a:p>
            <a:pPr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 -normal execution</a:t>
            </a:r>
          </a:p>
          <a:p>
            <a:pPr>
              <a:lnSpc>
                <a:spcPts val="1100"/>
              </a:lnSpc>
            </a:pPr>
            <a:r>
              <a:rPr lang="en-US" sz="1100" b="1" dirty="0">
                <a:solidFill>
                  <a:schemeClr val="tx1"/>
                </a:solidFill>
              </a:rPr>
              <a:t> -timeout/ crash / abort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0FD57CF-0036-E8B7-75A3-DD28E0670BD8}"/>
              </a:ext>
            </a:extLst>
          </p:cNvPr>
          <p:cNvCxnSpPr>
            <a:cxnSpLocks/>
            <a:stCxn id="39" idx="3"/>
            <a:endCxn id="51" idx="1"/>
          </p:cNvCxnSpPr>
          <p:nvPr/>
        </p:nvCxnSpPr>
        <p:spPr>
          <a:xfrm>
            <a:off x="7361853" y="2700020"/>
            <a:ext cx="2645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8">
            <a:extLst>
              <a:ext uri="{FF2B5EF4-FFF2-40B4-BE49-F238E27FC236}">
                <a16:creationId xmlns:a16="http://schemas.microsoft.com/office/drawing/2014/main" id="{C3398685-08F2-C485-1831-56680865EAB9}"/>
              </a:ext>
            </a:extLst>
          </p:cNvPr>
          <p:cNvSpPr/>
          <p:nvPr/>
        </p:nvSpPr>
        <p:spPr>
          <a:xfrm>
            <a:off x="3594723" y="2146721"/>
            <a:ext cx="3153253" cy="254163"/>
          </a:xfrm>
          <a:prstGeom prst="rect">
            <a:avLst/>
          </a:prstGeom>
          <a:noFill/>
        </p:spPr>
        <p:txBody>
          <a:bodyPr wrap="square" lIns="212" tIns="212" rIns="212" bIns="212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Repeat independently for each </a:t>
            </a:r>
            <a:r>
              <a:rPr lang="en-US" sz="1100" b="1" dirty="0" err="1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CPython</a:t>
            </a:r>
            <a:r>
              <a:rPr lang="en-US" sz="1100" b="1" dirty="0">
                <a:solidFill>
                  <a:srgbClr val="000000"/>
                </a:solidFill>
                <a:ea typeface="Arial" panose="020B0604020202020204" pitchFamily="34" charset="-122"/>
                <a:cs typeface="Arial" panose="020B0604020202020204" pitchFamily="34" charset="-120"/>
              </a:rPr>
              <a:t> version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297017152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CCE8C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CCE8C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407</Words>
  <Application>Microsoft Office PowerPoint</Application>
  <PresentationFormat>Widescreen</PresentationFormat>
  <Paragraphs>152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 li</dc:creator>
  <cp:lastModifiedBy>wen li</cp:lastModifiedBy>
  <cp:revision>52</cp:revision>
  <cp:lastPrinted>2026-06-05T05:31:24Z</cp:lastPrinted>
  <dcterms:created xsi:type="dcterms:W3CDTF">2023-08-09T12:44:00Z</dcterms:created>
  <dcterms:modified xsi:type="dcterms:W3CDTF">2026-06-05T05:36:55Z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