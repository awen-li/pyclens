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6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58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75BE1E-4319-48D5-88A9-F69A4B65E572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F12028-5C3E-4A2D-9821-DC50F1178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718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ACC17-D2FF-F531-5DBA-BDED726EA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6887D2-52B1-77B6-E963-FF6C9F8729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779D70-B193-9AC3-5C6D-A12D99F55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14DD1-50EF-22D5-3985-9ABA70C1C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2564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DA765-2B8A-A366-824B-3CD8F392E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87E482-ABE4-8872-71AA-119E5B563D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BFA25F-8B8E-E05D-9088-55E669EE09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3FB4A-B619-F495-D636-1F6B7C55A4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525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01454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6134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68576" y="2869956"/>
            <a:ext cx="219456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929632" y="2869956"/>
            <a:ext cx="219456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00544" y="2869956"/>
            <a:ext cx="219456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830816" y="2869956"/>
            <a:ext cx="219456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11328" y="1705864"/>
            <a:ext cx="1828800" cy="3023616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316480" y="1705864"/>
            <a:ext cx="2584704" cy="3023616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77536" y="1705864"/>
            <a:ext cx="2194560" cy="3023616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48448" y="1705864"/>
            <a:ext cx="2153920" cy="3023616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78720" y="1705864"/>
            <a:ext cx="2072640" cy="3023616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46528" y="4006088"/>
            <a:ext cx="2324608" cy="0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307584" y="4006088"/>
            <a:ext cx="1934464" cy="0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78496" y="3916680"/>
            <a:ext cx="1893824" cy="0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208768" y="3916680"/>
            <a:ext cx="1812544" cy="0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3248" y="1844040"/>
            <a:ext cx="1584960" cy="292608"/>
          </a:xfrm>
          <a:prstGeom prst="rect">
            <a:avLst/>
          </a:prstGeom>
          <a:noFill/>
        </p:spPr>
        <p:txBody>
          <a:bodyPr wrap="square" lIns="113" tIns="113" rIns="113" bIns="113" rtlCol="0" anchor="ctr">
            <a:normAutofit/>
          </a:bodyPr>
          <a:lstStyle/>
          <a:p>
            <a:pPr algn="ctr"/>
            <a:r>
              <a:rPr lang="en-US" sz="1404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Collection</a:t>
            </a:r>
            <a:endParaRPr lang="en-US" sz="1404" dirty="0"/>
          </a:p>
        </p:txBody>
      </p:sp>
      <p:sp>
        <p:nvSpPr>
          <p:cNvPr id="16" name="Text 14"/>
          <p:cNvSpPr/>
          <p:nvPr/>
        </p:nvSpPr>
        <p:spPr>
          <a:xfrm>
            <a:off x="357632" y="2534920"/>
            <a:ext cx="1536192" cy="471424"/>
          </a:xfrm>
          <a:prstGeom prst="rect">
            <a:avLst/>
          </a:prstGeom>
          <a:noFill/>
        </p:spPr>
        <p:txBody>
          <a:bodyPr wrap="square" lIns="113" tIns="113" rIns="113" bIns="113" rtlCol="0" anchor="t">
            <a:normAutofit/>
          </a:bodyPr>
          <a:lstStyle/>
          <a:p>
            <a:r>
              <a:rPr lang="en-US" sz="1173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Input: </a:t>
            </a:r>
            <a:r>
              <a:rPr lang="en-US" sz="1173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PyPI distribution</a:t>
            </a:r>
            <a:endParaRPr lang="en-US" sz="1173" dirty="0"/>
          </a:p>
          <a:p>
            <a:r>
              <a:rPr lang="en-US" sz="1173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artifacts</a:t>
            </a:r>
            <a:endParaRPr lang="en-US" sz="1173" dirty="0"/>
          </a:p>
        </p:txBody>
      </p:sp>
      <p:sp>
        <p:nvSpPr>
          <p:cNvPr id="17" name="Text 15"/>
          <p:cNvSpPr/>
          <p:nvPr/>
        </p:nvSpPr>
        <p:spPr>
          <a:xfrm>
            <a:off x="357632" y="3591560"/>
            <a:ext cx="1536192" cy="568960"/>
          </a:xfrm>
          <a:prstGeom prst="rect">
            <a:avLst/>
          </a:prstGeom>
          <a:noFill/>
        </p:spPr>
        <p:txBody>
          <a:bodyPr wrap="square" lIns="113" tIns="113" rIns="113" bIns="113" rtlCol="0" anchor="t">
            <a:normAutofit/>
          </a:bodyPr>
          <a:lstStyle/>
          <a:p>
            <a:r>
              <a:rPr lang="en-US" sz="1173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Outputs: </a:t>
            </a:r>
            <a:r>
              <a:rPr lang="en-US" sz="1173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wheels and</a:t>
            </a:r>
            <a:endParaRPr lang="en-US" sz="1173" dirty="0"/>
          </a:p>
          <a:p>
            <a:r>
              <a:rPr lang="en-US" sz="1173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source distributions</a:t>
            </a:r>
            <a:endParaRPr lang="en-US" sz="1173" dirty="0"/>
          </a:p>
        </p:txBody>
      </p:sp>
      <p:sp>
        <p:nvSpPr>
          <p:cNvPr id="18" name="Text 16"/>
          <p:cNvSpPr/>
          <p:nvPr/>
        </p:nvSpPr>
        <p:spPr>
          <a:xfrm>
            <a:off x="2462784" y="1819656"/>
            <a:ext cx="1885696" cy="487680"/>
          </a:xfrm>
          <a:prstGeom prst="rect">
            <a:avLst/>
          </a:prstGeom>
          <a:noFill/>
        </p:spPr>
        <p:txBody>
          <a:bodyPr wrap="square" lIns="113" tIns="113" rIns="113" bIns="113" rtlCol="0" anchor="ctr">
            <a:normAutofit fontScale="92500"/>
          </a:bodyPr>
          <a:lstStyle/>
          <a:p>
            <a:pPr algn="ctr"/>
            <a:r>
              <a:rPr lang="en-US" sz="1236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Phase 1: Bytecode</a:t>
            </a:r>
            <a:endParaRPr lang="en-US" sz="1236" dirty="0"/>
          </a:p>
          <a:p>
            <a:pPr algn="ctr"/>
            <a:r>
              <a:rPr lang="en-US" sz="1236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Exposure and Transparency</a:t>
            </a:r>
            <a:endParaRPr lang="en-US" sz="1236" dirty="0"/>
          </a:p>
        </p:txBody>
      </p:sp>
      <p:sp>
        <p:nvSpPr>
          <p:cNvPr id="19" name="Text 17"/>
          <p:cNvSpPr/>
          <p:nvPr/>
        </p:nvSpPr>
        <p:spPr>
          <a:xfrm>
            <a:off x="4462272" y="1819656"/>
            <a:ext cx="276352" cy="211328"/>
          </a:xfrm>
          <a:prstGeom prst="rect">
            <a:avLst/>
          </a:prstGeom>
          <a:noFill/>
        </p:spPr>
        <p:txBody>
          <a:bodyPr wrap="square" lIns="113" tIns="113" rIns="113" bIns="113" rtlCol="0" anchor="t">
            <a:normAutofit fontScale="92500"/>
          </a:bodyPr>
          <a:lstStyle/>
          <a:p>
            <a:pPr algn="ctr"/>
            <a:r>
              <a:rPr lang="en-US" sz="1102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RQ1</a:t>
            </a:r>
            <a:endParaRPr lang="en-US" sz="1102" dirty="0"/>
          </a:p>
        </p:txBody>
      </p:sp>
      <p:sp>
        <p:nvSpPr>
          <p:cNvPr id="20" name="Text 18"/>
          <p:cNvSpPr/>
          <p:nvPr/>
        </p:nvSpPr>
        <p:spPr>
          <a:xfrm>
            <a:off x="2495296" y="2469896"/>
            <a:ext cx="2227072" cy="1308608"/>
          </a:xfrm>
          <a:prstGeom prst="rect">
            <a:avLst/>
          </a:prstGeom>
          <a:noFill/>
        </p:spPr>
        <p:txBody>
          <a:bodyPr wrap="square" lIns="113" tIns="113" rIns="113" bIns="113" rtlCol="0" anchor="t">
            <a:normAutofit/>
          </a:bodyPr>
          <a:lstStyle/>
          <a:p>
            <a:r>
              <a:rPr lang="en-US" sz="111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scan artifacts</a:t>
            </a:r>
            <a:endParaRPr lang="en-US" sz="1111" dirty="0"/>
          </a:p>
          <a:p>
            <a:r>
              <a:rPr lang="en-US" sz="111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identify .pyc files</a:t>
            </a:r>
            <a:endParaRPr lang="en-US" sz="1111" dirty="0"/>
          </a:p>
          <a:p>
            <a:r>
              <a:rPr lang="en-US" sz="111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identify __pycache__ directories</a:t>
            </a:r>
            <a:endParaRPr lang="en-US" sz="1111" dirty="0"/>
          </a:p>
          <a:p>
            <a:r>
              <a:rPr lang="en-US" sz="111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identify source files</a:t>
            </a:r>
            <a:endParaRPr lang="en-US" sz="1111" dirty="0"/>
          </a:p>
          <a:p>
            <a:r>
              <a:rPr lang="en-US" sz="111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identify source-less bytecode</a:t>
            </a:r>
            <a:endParaRPr lang="en-US" sz="1111" dirty="0"/>
          </a:p>
          <a:p>
            <a:r>
              <a:rPr lang="en-US" sz="111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extract CPython version evidence</a:t>
            </a:r>
            <a:endParaRPr lang="en-US" sz="1111" dirty="0"/>
          </a:p>
        </p:txBody>
      </p:sp>
      <p:sp>
        <p:nvSpPr>
          <p:cNvPr id="21" name="Text 19"/>
          <p:cNvSpPr/>
          <p:nvPr/>
        </p:nvSpPr>
        <p:spPr>
          <a:xfrm>
            <a:off x="2495296" y="4144264"/>
            <a:ext cx="2227072" cy="471424"/>
          </a:xfrm>
          <a:prstGeom prst="rect">
            <a:avLst/>
          </a:prstGeom>
          <a:noFill/>
        </p:spPr>
        <p:txBody>
          <a:bodyPr wrap="square" lIns="113" tIns="113" rIns="113" bIns="113" rtlCol="0" anchor="t">
            <a:normAutofit/>
          </a:bodyPr>
          <a:lstStyle/>
          <a:p>
            <a:r>
              <a:rPr lang="en-US" sz="1129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Output: </a:t>
            </a:r>
            <a:r>
              <a:rPr lang="en-US" sz="1129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bytecode prevalence</a:t>
            </a:r>
            <a:endParaRPr lang="en-US" sz="1129" dirty="0"/>
          </a:p>
          <a:p>
            <a:r>
              <a:rPr lang="en-US" sz="1129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and transparency metrics</a:t>
            </a:r>
            <a:endParaRPr lang="en-US" sz="1129" dirty="0"/>
          </a:p>
        </p:txBody>
      </p:sp>
      <p:sp>
        <p:nvSpPr>
          <p:cNvPr id="22" name="Text 20"/>
          <p:cNvSpPr/>
          <p:nvPr/>
        </p:nvSpPr>
        <p:spPr>
          <a:xfrm>
            <a:off x="5323840" y="1819656"/>
            <a:ext cx="1511808" cy="487680"/>
          </a:xfrm>
          <a:prstGeom prst="rect">
            <a:avLst/>
          </a:prstGeom>
          <a:noFill/>
        </p:spPr>
        <p:txBody>
          <a:bodyPr wrap="square" lIns="113" tIns="113" rIns="113" bIns="113" rtlCol="0" anchor="ctr">
            <a:normAutofit/>
          </a:bodyPr>
          <a:lstStyle/>
          <a:p>
            <a:pPr algn="ctr"/>
            <a:r>
              <a:rPr lang="en-US" sz="1236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Phase 2: Practical</a:t>
            </a:r>
            <a:endParaRPr lang="en-US" sz="1236" dirty="0"/>
          </a:p>
          <a:p>
            <a:pPr algn="ctr"/>
            <a:r>
              <a:rPr lang="en-US" sz="1236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Analyzability</a:t>
            </a:r>
            <a:endParaRPr lang="en-US" sz="1236" dirty="0"/>
          </a:p>
        </p:txBody>
      </p:sp>
      <p:sp>
        <p:nvSpPr>
          <p:cNvPr id="23" name="Text 21"/>
          <p:cNvSpPr/>
          <p:nvPr/>
        </p:nvSpPr>
        <p:spPr>
          <a:xfrm>
            <a:off x="6949440" y="1819656"/>
            <a:ext cx="276352" cy="211328"/>
          </a:xfrm>
          <a:prstGeom prst="rect">
            <a:avLst/>
          </a:prstGeom>
          <a:noFill/>
        </p:spPr>
        <p:txBody>
          <a:bodyPr wrap="square" lIns="113" tIns="113" rIns="113" bIns="113" rtlCol="0" anchor="t">
            <a:normAutofit fontScale="92500"/>
          </a:bodyPr>
          <a:lstStyle/>
          <a:p>
            <a:pPr algn="ctr"/>
            <a:r>
              <a:rPr lang="en-US" sz="1102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RQ2</a:t>
            </a:r>
            <a:endParaRPr lang="en-US" sz="1102" dirty="0"/>
          </a:p>
        </p:txBody>
      </p:sp>
      <p:sp>
        <p:nvSpPr>
          <p:cNvPr id="24" name="Text 22"/>
          <p:cNvSpPr/>
          <p:nvPr/>
        </p:nvSpPr>
        <p:spPr>
          <a:xfrm>
            <a:off x="5340096" y="2494280"/>
            <a:ext cx="1869440" cy="1259840"/>
          </a:xfrm>
          <a:prstGeom prst="rect">
            <a:avLst/>
          </a:prstGeom>
          <a:noFill/>
        </p:spPr>
        <p:txBody>
          <a:bodyPr wrap="square" lIns="113" tIns="113" rIns="113" bIns="113" rtlCol="0" anchor="t">
            <a:normAutofit/>
          </a:bodyPr>
          <a:lstStyle/>
          <a:p>
            <a:r>
              <a:rPr lang="en-US" sz="112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version-matched analysis with:</a:t>
            </a:r>
            <a:endParaRPr lang="en-US" sz="1120" dirty="0"/>
          </a:p>
          <a:p>
            <a:r>
              <a:rPr lang="en-US" sz="112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CPython marshal/dis</a:t>
            </a:r>
            <a:endParaRPr lang="en-US" sz="1120" dirty="0"/>
          </a:p>
          <a:p>
            <a:r>
              <a:rPr lang="en-US" sz="112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uncompyle6</a:t>
            </a:r>
            <a:endParaRPr lang="en-US" sz="1120" dirty="0"/>
          </a:p>
          <a:p>
            <a:r>
              <a:rPr lang="en-US" sz="112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decompyle3</a:t>
            </a:r>
            <a:endParaRPr lang="en-US" sz="1120" dirty="0"/>
          </a:p>
          <a:p>
            <a:r>
              <a:rPr lang="en-US" sz="112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pycdc</a:t>
            </a:r>
            <a:endParaRPr lang="en-US" sz="1120" dirty="0"/>
          </a:p>
          <a:p>
            <a:r>
              <a:rPr lang="en-US" sz="112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PyLingual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5340096" y="4144264"/>
            <a:ext cx="1869440" cy="471424"/>
          </a:xfrm>
          <a:prstGeom prst="rect">
            <a:avLst/>
          </a:prstGeom>
          <a:noFill/>
        </p:spPr>
        <p:txBody>
          <a:bodyPr wrap="square" lIns="113" tIns="113" rIns="113" bIns="113" rtlCol="0" anchor="t">
            <a:normAutofit/>
          </a:bodyPr>
          <a:lstStyle/>
          <a:p>
            <a:r>
              <a:rPr lang="en-US" sz="1129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Output: </a:t>
            </a:r>
            <a:r>
              <a:rPr lang="en-US" sz="1129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analyzability levels</a:t>
            </a:r>
            <a:endParaRPr lang="en-US" sz="1129" dirty="0"/>
          </a:p>
          <a:p>
            <a:r>
              <a:rPr lang="en-US" sz="1129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and failure reasons</a:t>
            </a:r>
            <a:endParaRPr lang="en-US" sz="1129" dirty="0"/>
          </a:p>
        </p:txBody>
      </p:sp>
      <p:sp>
        <p:nvSpPr>
          <p:cNvPr id="26" name="Text 24"/>
          <p:cNvSpPr/>
          <p:nvPr/>
        </p:nvSpPr>
        <p:spPr>
          <a:xfrm>
            <a:off x="7794752" y="1819656"/>
            <a:ext cx="1471168" cy="487680"/>
          </a:xfrm>
          <a:prstGeom prst="rect">
            <a:avLst/>
          </a:prstGeom>
          <a:noFill/>
        </p:spPr>
        <p:txBody>
          <a:bodyPr wrap="square" lIns="113" tIns="113" rIns="113" bIns="113" rtlCol="0" anchor="ctr">
            <a:normAutofit/>
          </a:bodyPr>
          <a:lstStyle/>
          <a:p>
            <a:pPr algn="ctr"/>
            <a:r>
              <a:rPr lang="en-US" sz="1236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Phase 3: Interpreter</a:t>
            </a:r>
            <a:endParaRPr lang="en-US" sz="1236" dirty="0"/>
          </a:p>
          <a:p>
            <a:pPr algn="ctr"/>
            <a:r>
              <a:rPr lang="en-US" sz="1236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Robustness</a:t>
            </a:r>
            <a:endParaRPr lang="en-US" sz="1236" dirty="0"/>
          </a:p>
        </p:txBody>
      </p:sp>
      <p:sp>
        <p:nvSpPr>
          <p:cNvPr id="27" name="Text 25"/>
          <p:cNvSpPr/>
          <p:nvPr/>
        </p:nvSpPr>
        <p:spPr>
          <a:xfrm>
            <a:off x="9379712" y="1819656"/>
            <a:ext cx="276352" cy="211328"/>
          </a:xfrm>
          <a:prstGeom prst="rect">
            <a:avLst/>
          </a:prstGeom>
          <a:noFill/>
        </p:spPr>
        <p:txBody>
          <a:bodyPr wrap="square" lIns="113" tIns="113" rIns="113" bIns="113" rtlCol="0" anchor="t">
            <a:normAutofit fontScale="92500"/>
          </a:bodyPr>
          <a:lstStyle/>
          <a:p>
            <a:pPr algn="ctr"/>
            <a:r>
              <a:rPr lang="en-US" sz="1102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RQ3</a:t>
            </a:r>
            <a:endParaRPr lang="en-US" sz="1102" dirty="0"/>
          </a:p>
        </p:txBody>
      </p:sp>
      <p:sp>
        <p:nvSpPr>
          <p:cNvPr id="28" name="Text 26"/>
          <p:cNvSpPr/>
          <p:nvPr/>
        </p:nvSpPr>
        <p:spPr>
          <a:xfrm>
            <a:off x="7892288" y="2803144"/>
            <a:ext cx="1666240" cy="438912"/>
          </a:xfrm>
          <a:prstGeom prst="rect">
            <a:avLst/>
          </a:prstGeom>
          <a:noFill/>
        </p:spPr>
        <p:txBody>
          <a:bodyPr wrap="square" lIns="113" tIns="113" rIns="113" bIns="113" rtlCol="0" anchor="t">
            <a:normAutofit/>
          </a:bodyPr>
          <a:lstStyle/>
          <a:p>
            <a:pPr algn="ctr"/>
            <a:r>
              <a:rPr lang="en-US" sz="1156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CPython-version-specific</a:t>
            </a:r>
            <a:endParaRPr lang="en-US" sz="1156" dirty="0"/>
          </a:p>
          <a:p>
            <a:pPr algn="ctr"/>
            <a:r>
              <a:rPr lang="en-US" sz="1156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bytecode fuzzing</a:t>
            </a:r>
            <a:endParaRPr lang="en-US" sz="1156" dirty="0"/>
          </a:p>
        </p:txBody>
      </p:sp>
      <p:sp>
        <p:nvSpPr>
          <p:cNvPr id="29" name="Text 27"/>
          <p:cNvSpPr/>
          <p:nvPr/>
        </p:nvSpPr>
        <p:spPr>
          <a:xfrm>
            <a:off x="7794752" y="4062984"/>
            <a:ext cx="1861312" cy="243840"/>
          </a:xfrm>
          <a:prstGeom prst="rect">
            <a:avLst/>
          </a:prstGeom>
          <a:noFill/>
        </p:spPr>
        <p:txBody>
          <a:bodyPr wrap="square" lIns="113" tIns="113" rIns="113" bIns="113" rtlCol="0" anchor="t">
            <a:normAutofit/>
          </a:bodyPr>
          <a:lstStyle/>
          <a:p>
            <a:r>
              <a:rPr lang="en-US" sz="1138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Output: </a:t>
            </a:r>
            <a:r>
              <a:rPr lang="en-US" sz="1138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execution outcomes</a:t>
            </a:r>
            <a:endParaRPr lang="en-US" sz="1138" dirty="0"/>
          </a:p>
        </p:txBody>
      </p:sp>
      <p:sp>
        <p:nvSpPr>
          <p:cNvPr id="30" name="Text 28"/>
          <p:cNvSpPr/>
          <p:nvPr/>
        </p:nvSpPr>
        <p:spPr>
          <a:xfrm>
            <a:off x="7794752" y="4306824"/>
            <a:ext cx="1861312" cy="341376"/>
          </a:xfrm>
          <a:prstGeom prst="rect">
            <a:avLst/>
          </a:prstGeom>
          <a:noFill/>
        </p:spPr>
        <p:txBody>
          <a:bodyPr wrap="square" lIns="113" tIns="113" rIns="113" bIns="113" rtlCol="0" anchor="t">
            <a:normAutofit/>
          </a:bodyPr>
          <a:lstStyle/>
          <a:p>
            <a:r>
              <a:rPr lang="en-US" sz="1084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normal, exception, timeout,</a:t>
            </a:r>
            <a:endParaRPr lang="en-US" sz="1084" dirty="0"/>
          </a:p>
          <a:p>
            <a:r>
              <a:rPr lang="en-US" sz="1084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crash, abort</a:t>
            </a:r>
            <a:endParaRPr lang="en-US" sz="1084" dirty="0"/>
          </a:p>
        </p:txBody>
      </p:sp>
      <p:sp>
        <p:nvSpPr>
          <p:cNvPr id="31" name="Text 29"/>
          <p:cNvSpPr/>
          <p:nvPr/>
        </p:nvSpPr>
        <p:spPr>
          <a:xfrm>
            <a:off x="10225024" y="1819656"/>
            <a:ext cx="1389888" cy="487680"/>
          </a:xfrm>
          <a:prstGeom prst="rect">
            <a:avLst/>
          </a:prstGeom>
          <a:noFill/>
        </p:spPr>
        <p:txBody>
          <a:bodyPr wrap="square" lIns="113" tIns="113" rIns="113" bIns="113" rtlCol="0" anchor="ctr">
            <a:normAutofit/>
          </a:bodyPr>
          <a:lstStyle/>
          <a:p>
            <a:pPr algn="ctr"/>
            <a:r>
              <a:rPr lang="en-US" sz="1236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Phase 4: Source</a:t>
            </a:r>
            <a:endParaRPr lang="en-US" sz="1236" dirty="0"/>
          </a:p>
          <a:p>
            <a:pPr algn="ctr"/>
            <a:r>
              <a:rPr lang="en-US" sz="1236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Reproduction</a:t>
            </a:r>
            <a:endParaRPr lang="en-US" sz="1236" dirty="0"/>
          </a:p>
        </p:txBody>
      </p:sp>
      <p:sp>
        <p:nvSpPr>
          <p:cNvPr id="32" name="Text 30"/>
          <p:cNvSpPr/>
          <p:nvPr/>
        </p:nvSpPr>
        <p:spPr>
          <a:xfrm>
            <a:off x="11728704" y="1819656"/>
            <a:ext cx="276352" cy="211328"/>
          </a:xfrm>
          <a:prstGeom prst="rect">
            <a:avLst/>
          </a:prstGeom>
          <a:noFill/>
        </p:spPr>
        <p:txBody>
          <a:bodyPr wrap="square" lIns="113" tIns="113" rIns="113" bIns="113" rtlCol="0" anchor="t">
            <a:normAutofit fontScale="92500"/>
          </a:bodyPr>
          <a:lstStyle/>
          <a:p>
            <a:pPr algn="ctr"/>
            <a:r>
              <a:rPr lang="en-US" sz="1102" dirty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RQ4</a:t>
            </a:r>
            <a:endParaRPr lang="en-US" sz="1102" dirty="0"/>
          </a:p>
        </p:txBody>
      </p:sp>
      <p:sp>
        <p:nvSpPr>
          <p:cNvPr id="33" name="Text 31"/>
          <p:cNvSpPr/>
          <p:nvPr/>
        </p:nvSpPr>
        <p:spPr>
          <a:xfrm>
            <a:off x="10257536" y="2567432"/>
            <a:ext cx="1715008" cy="975360"/>
          </a:xfrm>
          <a:prstGeom prst="rect">
            <a:avLst/>
          </a:prstGeom>
          <a:noFill/>
        </p:spPr>
        <p:txBody>
          <a:bodyPr wrap="square" lIns="113" tIns="113" rIns="113" bIns="113" rtlCol="0" anchor="t">
            <a:normAutofit/>
          </a:bodyPr>
          <a:lstStyle/>
          <a:p>
            <a:r>
              <a:rPr lang="en-US" sz="1147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decompile</a:t>
            </a:r>
            <a:endParaRPr lang="en-US" sz="1147" dirty="0"/>
          </a:p>
          <a:p>
            <a:r>
              <a:rPr lang="en-US" sz="1147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compile</a:t>
            </a:r>
            <a:endParaRPr lang="en-US" sz="1147" dirty="0"/>
          </a:p>
          <a:p>
            <a:r>
              <a:rPr lang="en-US" sz="1147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rerun</a:t>
            </a:r>
            <a:endParaRPr lang="en-US" sz="1147" dirty="0"/>
          </a:p>
          <a:p>
            <a:r>
              <a:rPr lang="en-US" sz="1147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compare behavior class</a:t>
            </a:r>
            <a:endParaRPr lang="en-US" sz="1147" dirty="0"/>
          </a:p>
        </p:txBody>
      </p:sp>
      <p:sp>
        <p:nvSpPr>
          <p:cNvPr id="34" name="Text 32"/>
          <p:cNvSpPr/>
          <p:nvPr/>
        </p:nvSpPr>
        <p:spPr>
          <a:xfrm>
            <a:off x="10257536" y="4046728"/>
            <a:ext cx="1715008" cy="650240"/>
          </a:xfrm>
          <a:prstGeom prst="rect">
            <a:avLst/>
          </a:prstGeom>
          <a:noFill/>
        </p:spPr>
        <p:txBody>
          <a:bodyPr wrap="square" lIns="113" tIns="113" rIns="113" bIns="113" rtlCol="0" anchor="t">
            <a:normAutofit/>
          </a:bodyPr>
          <a:lstStyle/>
          <a:p>
            <a:r>
              <a:rPr lang="en-US" sz="1102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Output: </a:t>
            </a:r>
            <a:r>
              <a:rPr lang="en-US" sz="1102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reproduced /</a:t>
            </a:r>
            <a:endParaRPr lang="en-US" sz="1102" dirty="0"/>
          </a:p>
          <a:p>
            <a:r>
              <a:rPr lang="en-US" sz="1102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not reproduced by</a:t>
            </a:r>
            <a:endParaRPr lang="en-US" sz="1102" dirty="0"/>
          </a:p>
          <a:p>
            <a:r>
              <a:rPr lang="en-US" sz="1102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selected tools</a:t>
            </a:r>
            <a:endParaRPr lang="en-US" sz="1102" dirty="0"/>
          </a:p>
        </p:txBody>
      </p:sp>
      <p:sp>
        <p:nvSpPr>
          <p:cNvPr id="35" name="Text 33"/>
          <p:cNvSpPr/>
          <p:nvPr/>
        </p:nvSpPr>
        <p:spPr>
          <a:xfrm>
            <a:off x="528320" y="4989576"/>
            <a:ext cx="11135360" cy="243840"/>
          </a:xfrm>
          <a:prstGeom prst="rect">
            <a:avLst/>
          </a:prstGeom>
          <a:noFill/>
        </p:spPr>
        <p:txBody>
          <a:bodyPr wrap="square" lIns="113" tIns="113" rIns="113" bIns="113" rtlCol="0" anchor="ctr">
            <a:normAutofit/>
          </a:bodyPr>
          <a:lstStyle/>
          <a:p>
            <a:pPr algn="ctr"/>
            <a:r>
              <a:rPr lang="en-US" sz="1102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Version-aware analysis uses CPython tags and matching interpreters.</a:t>
            </a:r>
            <a:endParaRPr lang="en-US" sz="110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5D8E1-EB25-56FF-7566-F0E4A5738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8">
            <a:extLst>
              <a:ext uri="{FF2B5EF4-FFF2-40B4-BE49-F238E27FC236}">
                <a16:creationId xmlns:a16="http://schemas.microsoft.com/office/drawing/2014/main" id="{E82E74A1-C436-4A1E-14F1-BF920997FF24}"/>
              </a:ext>
            </a:extLst>
          </p:cNvPr>
          <p:cNvSpPr/>
          <p:nvPr/>
        </p:nvSpPr>
        <p:spPr>
          <a:xfrm>
            <a:off x="8716229" y="1739785"/>
            <a:ext cx="1639200" cy="2135403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 sz="11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9D40A3F-99D7-A321-7CF7-A0D216D2F878}"/>
              </a:ext>
            </a:extLst>
          </p:cNvPr>
          <p:cNvSpPr/>
          <p:nvPr/>
        </p:nvSpPr>
        <p:spPr>
          <a:xfrm>
            <a:off x="8868827" y="2362182"/>
            <a:ext cx="1540891" cy="975360"/>
          </a:xfrm>
          <a:prstGeom prst="rect">
            <a:avLst/>
          </a:prstGeom>
          <a:noFill/>
        </p:spPr>
        <p:txBody>
          <a:bodyPr wrap="square" lIns="113" tIns="113" rIns="113" bIns="113" rtlCol="0" anchor="t">
            <a:normAutofit/>
          </a:bodyPr>
          <a:lstStyle/>
          <a:p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decompile</a:t>
            </a:r>
            <a:endParaRPr lang="en-US" sz="1100" dirty="0"/>
          </a:p>
          <a:p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compile</a:t>
            </a:r>
            <a:endParaRPr lang="en-US" sz="1100" dirty="0"/>
          </a:p>
          <a:p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rerun</a:t>
            </a:r>
            <a:endParaRPr lang="en-US" sz="1100" dirty="0"/>
          </a:p>
          <a:p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compare behavior class</a:t>
            </a:r>
            <a:endParaRPr lang="en-US" sz="11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90DD7F2-FD54-479A-9BCF-72D4C2F07E4D}"/>
              </a:ext>
            </a:extLst>
          </p:cNvPr>
          <p:cNvSpPr/>
          <p:nvPr/>
        </p:nvSpPr>
        <p:spPr>
          <a:xfrm>
            <a:off x="2316480" y="1731657"/>
            <a:ext cx="2093614" cy="2135404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300C22F5-6E01-B7B9-1061-252955E77785}"/>
              </a:ext>
            </a:extLst>
          </p:cNvPr>
          <p:cNvSpPr/>
          <p:nvPr/>
        </p:nvSpPr>
        <p:spPr>
          <a:xfrm>
            <a:off x="2068576" y="2869956"/>
            <a:ext cx="219456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1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F978AD3-346C-348A-ED6D-6F53061DDB72}"/>
              </a:ext>
            </a:extLst>
          </p:cNvPr>
          <p:cNvSpPr/>
          <p:nvPr/>
        </p:nvSpPr>
        <p:spPr>
          <a:xfrm>
            <a:off x="4439371" y="2869956"/>
            <a:ext cx="219456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1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81D9EDB-9669-B530-EB6D-5A84FA8819C6}"/>
              </a:ext>
            </a:extLst>
          </p:cNvPr>
          <p:cNvSpPr/>
          <p:nvPr/>
        </p:nvSpPr>
        <p:spPr>
          <a:xfrm>
            <a:off x="6422697" y="2869956"/>
            <a:ext cx="219456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1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657CDCB-ACFD-D209-F263-A9DBE0698325}"/>
              </a:ext>
            </a:extLst>
          </p:cNvPr>
          <p:cNvSpPr/>
          <p:nvPr/>
        </p:nvSpPr>
        <p:spPr>
          <a:xfrm>
            <a:off x="8458287" y="2869956"/>
            <a:ext cx="219456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1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FEEC528-4E07-4B97-B24B-07B5F4DA5DD2}"/>
              </a:ext>
            </a:extLst>
          </p:cNvPr>
          <p:cNvSpPr/>
          <p:nvPr/>
        </p:nvSpPr>
        <p:spPr>
          <a:xfrm>
            <a:off x="529336" y="2116680"/>
            <a:ext cx="1485018" cy="1536185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E7EBD60-1D6A-AF67-61E3-115376832077}"/>
              </a:ext>
            </a:extLst>
          </p:cNvPr>
          <p:cNvSpPr/>
          <p:nvPr/>
        </p:nvSpPr>
        <p:spPr>
          <a:xfrm>
            <a:off x="4691888" y="1731657"/>
            <a:ext cx="1702816" cy="2135403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9D066D1-BB8C-B1B2-EF30-8585DA26C0C3}"/>
              </a:ext>
            </a:extLst>
          </p:cNvPr>
          <p:cNvSpPr/>
          <p:nvPr/>
        </p:nvSpPr>
        <p:spPr>
          <a:xfrm>
            <a:off x="6674092" y="1739785"/>
            <a:ext cx="1748629" cy="2135403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97EE7B4-3989-2671-5B54-0D9A12A5F4D4}"/>
              </a:ext>
            </a:extLst>
          </p:cNvPr>
          <p:cNvSpPr/>
          <p:nvPr/>
        </p:nvSpPr>
        <p:spPr>
          <a:xfrm flipV="1">
            <a:off x="2316480" y="2189480"/>
            <a:ext cx="2098320" cy="4063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A8113AD-701E-2EEB-9B45-8E031FF6FC35}"/>
              </a:ext>
            </a:extLst>
          </p:cNvPr>
          <p:cNvSpPr/>
          <p:nvPr/>
        </p:nvSpPr>
        <p:spPr>
          <a:xfrm flipV="1">
            <a:off x="4691888" y="3366237"/>
            <a:ext cx="1702816" cy="3876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5BB1F3A-6AEC-BEF5-DA46-70063FE0E2BC}"/>
              </a:ext>
            </a:extLst>
          </p:cNvPr>
          <p:cNvSpPr/>
          <p:nvPr/>
        </p:nvSpPr>
        <p:spPr>
          <a:xfrm flipV="1">
            <a:off x="6674092" y="2189479"/>
            <a:ext cx="1748629" cy="5679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58924B6-6DAD-A035-6478-D50B7DC7B148}"/>
              </a:ext>
            </a:extLst>
          </p:cNvPr>
          <p:cNvSpPr/>
          <p:nvPr/>
        </p:nvSpPr>
        <p:spPr>
          <a:xfrm>
            <a:off x="8716228" y="3374905"/>
            <a:ext cx="1639201" cy="19145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68620AB-EA97-AFC8-388F-6BF91772BA48}"/>
              </a:ext>
            </a:extLst>
          </p:cNvPr>
          <p:cNvSpPr/>
          <p:nvPr/>
        </p:nvSpPr>
        <p:spPr>
          <a:xfrm>
            <a:off x="409448" y="2116680"/>
            <a:ext cx="1584960" cy="292608"/>
          </a:xfrm>
          <a:prstGeom prst="rect">
            <a:avLst/>
          </a:prstGeom>
          <a:noFill/>
        </p:spPr>
        <p:txBody>
          <a:bodyPr wrap="square" lIns="113" tIns="113" rIns="113" bIns="113" rtlCol="0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Data Collection</a:t>
            </a:r>
            <a:endParaRPr lang="en-US" sz="11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3404F11-A37D-431C-FD5E-4205E8BBECC2}"/>
              </a:ext>
            </a:extLst>
          </p:cNvPr>
          <p:cNvSpPr/>
          <p:nvPr/>
        </p:nvSpPr>
        <p:spPr>
          <a:xfrm>
            <a:off x="628904" y="2572029"/>
            <a:ext cx="1354328" cy="471424"/>
          </a:xfrm>
          <a:prstGeom prst="rect">
            <a:avLst/>
          </a:prstGeom>
          <a:noFill/>
        </p:spPr>
        <p:txBody>
          <a:bodyPr wrap="square" lIns="113" tIns="113" rIns="113" bIns="113" rtlCol="0" anchor="t">
            <a:normAutofit/>
          </a:bodyPr>
          <a:lstStyle/>
          <a:p>
            <a:r>
              <a:rPr lang="en-US" sz="1100" b="1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Input: </a:t>
            </a:r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PyPI distribution</a:t>
            </a:r>
            <a:endParaRPr lang="en-US" sz="1100" dirty="0"/>
          </a:p>
          <a:p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artifacts</a:t>
            </a: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C3A5931-B252-78F7-C39E-68766B8009D8}"/>
              </a:ext>
            </a:extLst>
          </p:cNvPr>
          <p:cNvSpPr/>
          <p:nvPr/>
        </p:nvSpPr>
        <p:spPr>
          <a:xfrm>
            <a:off x="611331" y="3076208"/>
            <a:ext cx="1322625" cy="455594"/>
          </a:xfrm>
          <a:prstGeom prst="rect">
            <a:avLst/>
          </a:prstGeom>
          <a:noFill/>
        </p:spPr>
        <p:txBody>
          <a:bodyPr wrap="square" lIns="113" tIns="113" rIns="113" bIns="113" rtlCol="0" anchor="t">
            <a:normAutofit/>
          </a:bodyPr>
          <a:lstStyle/>
          <a:p>
            <a:r>
              <a:rPr lang="en-US" sz="1100" b="1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Outputs: </a:t>
            </a:r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wheels and</a:t>
            </a:r>
            <a:endParaRPr lang="en-US" sz="1100" dirty="0"/>
          </a:p>
          <a:p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source distributions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6E6AD85-210B-5DDF-1C71-41D726681041}"/>
              </a:ext>
            </a:extLst>
          </p:cNvPr>
          <p:cNvSpPr/>
          <p:nvPr/>
        </p:nvSpPr>
        <p:spPr>
          <a:xfrm>
            <a:off x="2481072" y="1681480"/>
            <a:ext cx="1885696" cy="487680"/>
          </a:xfrm>
          <a:prstGeom prst="rect">
            <a:avLst/>
          </a:prstGeom>
          <a:noFill/>
        </p:spPr>
        <p:txBody>
          <a:bodyPr wrap="square" lIns="113" tIns="113" rIns="113" bIns="113" rtlCol="0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Phase 1: Bytecode</a:t>
            </a:r>
            <a:endParaRPr lang="en-US" sz="1100" dirty="0"/>
          </a:p>
          <a:p>
            <a:pPr algn="ctr"/>
            <a:r>
              <a:rPr lang="en-US" sz="1100" b="1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Exposure and Transparency</a:t>
            </a:r>
            <a:endParaRPr lang="en-US" sz="1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A875779-0088-6596-9C43-AFF79F4D5A3B}"/>
              </a:ext>
            </a:extLst>
          </p:cNvPr>
          <p:cNvSpPr/>
          <p:nvPr/>
        </p:nvSpPr>
        <p:spPr>
          <a:xfrm>
            <a:off x="2361639" y="1739785"/>
            <a:ext cx="276352" cy="211328"/>
          </a:xfrm>
          <a:prstGeom prst="rect">
            <a:avLst/>
          </a:prstGeom>
          <a:noFill/>
        </p:spPr>
        <p:txBody>
          <a:bodyPr wrap="square" lIns="113" tIns="113" rIns="113" bIns="113" rtlCol="0" anchor="t">
            <a:noAutofit/>
          </a:bodyPr>
          <a:lstStyle/>
          <a:p>
            <a:pPr algn="ctr"/>
            <a:r>
              <a:rPr lang="en-US" sz="1100" b="1" dirty="0">
                <a:solidFill>
                  <a:srgbClr val="00B0F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RQ1</a:t>
            </a:r>
            <a:endParaRPr lang="en-US" sz="1100" b="1" dirty="0">
              <a:solidFill>
                <a:srgbClr val="00B0F0"/>
              </a:solidFill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6195968-6001-BB25-1AF4-DF839ED96CA5}"/>
              </a:ext>
            </a:extLst>
          </p:cNvPr>
          <p:cNvSpPr/>
          <p:nvPr/>
        </p:nvSpPr>
        <p:spPr>
          <a:xfrm>
            <a:off x="2425086" y="2282952"/>
            <a:ext cx="1972150" cy="1006400"/>
          </a:xfrm>
          <a:prstGeom prst="rect">
            <a:avLst/>
          </a:prstGeom>
          <a:noFill/>
        </p:spPr>
        <p:txBody>
          <a:bodyPr wrap="square" lIns="113" tIns="113" rIns="113" bIns="113" rtlCol="0" anchor="t">
            <a:normAutofit/>
          </a:bodyPr>
          <a:lstStyle/>
          <a:p>
            <a:r>
              <a:rPr lang="en-US" sz="1100" b="1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scan</a:t>
            </a:r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       artifacts</a:t>
            </a:r>
            <a:endParaRPr lang="en-US" sz="1100" dirty="0"/>
          </a:p>
          <a:p>
            <a:r>
              <a:rPr lang="en-US" sz="1100" b="1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identify</a:t>
            </a:r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 .pyc files</a:t>
            </a:r>
            <a:endParaRPr lang="en-US" sz="1100" dirty="0"/>
          </a:p>
          <a:p>
            <a:r>
              <a:rPr lang="en-US" sz="1100" b="1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identify</a:t>
            </a:r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pycache</a:t>
            </a:r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 directories</a:t>
            </a:r>
            <a:endParaRPr lang="en-US" sz="1100" dirty="0"/>
          </a:p>
          <a:p>
            <a:r>
              <a:rPr lang="en-US" sz="1100" b="1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identify</a:t>
            </a:r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 source files</a:t>
            </a:r>
            <a:endParaRPr lang="en-US" sz="1100" dirty="0"/>
          </a:p>
          <a:p>
            <a:r>
              <a:rPr lang="en-US" sz="1100" b="1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identify</a:t>
            </a:r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 source-less bytecode</a:t>
            </a:r>
            <a:endParaRPr lang="en-US" sz="1100" dirty="0"/>
          </a:p>
          <a:p>
            <a:r>
              <a:rPr lang="en-US" sz="1100" b="1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extract</a:t>
            </a:r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  </a:t>
            </a:r>
            <a:r>
              <a:rPr lang="en-US" sz="1100" dirty="0" err="1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CPython</a:t>
            </a:r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 version evidence</a:t>
            </a:r>
            <a:endParaRPr lang="en-US" sz="11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E3C3940-849E-AA2B-609F-FFDF549F2A92}"/>
              </a:ext>
            </a:extLst>
          </p:cNvPr>
          <p:cNvSpPr/>
          <p:nvPr/>
        </p:nvSpPr>
        <p:spPr>
          <a:xfrm>
            <a:off x="2421396" y="3395638"/>
            <a:ext cx="1829816" cy="392983"/>
          </a:xfrm>
          <a:prstGeom prst="rect">
            <a:avLst/>
          </a:prstGeom>
          <a:noFill/>
        </p:spPr>
        <p:txBody>
          <a:bodyPr wrap="square" lIns="113" tIns="113" rIns="113" bIns="113" rtlCol="0" anchor="t">
            <a:normAutofit/>
          </a:bodyPr>
          <a:lstStyle/>
          <a:p>
            <a:r>
              <a:rPr lang="en-US" sz="1100" b="1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Output: </a:t>
            </a:r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bytecode prevalence</a:t>
            </a:r>
            <a:endParaRPr lang="en-US" sz="1100" dirty="0"/>
          </a:p>
          <a:p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and transparency metrics</a:t>
            </a:r>
            <a:endParaRPr lang="en-US" sz="1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5F8B666-8795-32A2-803C-39307A3C45BF}"/>
              </a:ext>
            </a:extLst>
          </p:cNvPr>
          <p:cNvSpPr/>
          <p:nvPr/>
        </p:nvSpPr>
        <p:spPr>
          <a:xfrm>
            <a:off x="4854448" y="1707273"/>
            <a:ext cx="1511808" cy="487680"/>
          </a:xfrm>
          <a:prstGeom prst="rect">
            <a:avLst/>
          </a:prstGeom>
          <a:noFill/>
        </p:spPr>
        <p:txBody>
          <a:bodyPr wrap="square" lIns="113" tIns="113" rIns="113" bIns="113" rtlCol="0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Phase 2: Practical</a:t>
            </a:r>
            <a:endParaRPr lang="en-US" sz="1100" dirty="0"/>
          </a:p>
          <a:p>
            <a:pPr algn="ctr"/>
            <a:r>
              <a:rPr lang="en-US" sz="1100" b="1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Analyzability</a:t>
            </a: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C21AF46-DAFF-9C4F-55FD-A9828D4A490E}"/>
              </a:ext>
            </a:extLst>
          </p:cNvPr>
          <p:cNvSpPr/>
          <p:nvPr/>
        </p:nvSpPr>
        <p:spPr>
          <a:xfrm>
            <a:off x="4728464" y="1739785"/>
            <a:ext cx="276352" cy="211328"/>
          </a:xfrm>
          <a:prstGeom prst="rect">
            <a:avLst/>
          </a:prstGeom>
          <a:noFill/>
        </p:spPr>
        <p:txBody>
          <a:bodyPr wrap="square" lIns="113" tIns="113" rIns="113" bIns="113" rtlCol="0" anchor="t">
            <a:noAutofit/>
          </a:bodyPr>
          <a:lstStyle/>
          <a:p>
            <a:pPr algn="ctr"/>
            <a:r>
              <a:rPr lang="en-US" sz="1100" b="1" dirty="0">
                <a:solidFill>
                  <a:srgbClr val="00B0F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RQ2</a:t>
            </a:r>
            <a:endParaRPr lang="en-US" sz="1100" b="1" dirty="0">
              <a:solidFill>
                <a:srgbClr val="00B0F0"/>
              </a:solidFill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D3292D9-1093-8838-0B95-AC5E86C1C523}"/>
              </a:ext>
            </a:extLst>
          </p:cNvPr>
          <p:cNvSpPr/>
          <p:nvPr/>
        </p:nvSpPr>
        <p:spPr>
          <a:xfrm>
            <a:off x="4790440" y="2310735"/>
            <a:ext cx="1575816" cy="1031118"/>
          </a:xfrm>
          <a:prstGeom prst="rect">
            <a:avLst/>
          </a:prstGeom>
          <a:noFill/>
        </p:spPr>
        <p:txBody>
          <a:bodyPr wrap="square" lIns="113" tIns="113" rIns="113" bIns="113" rtlCol="0" anchor="t">
            <a:normAutofit/>
          </a:bodyPr>
          <a:lstStyle/>
          <a:p>
            <a:r>
              <a:rPr lang="en-US" sz="1100" b="1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version-matched analysis </a:t>
            </a:r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:</a:t>
            </a:r>
            <a:endParaRPr lang="en-US" sz="1100" dirty="0"/>
          </a:p>
          <a:p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  CPython marshal/dis</a:t>
            </a:r>
            <a:endParaRPr lang="en-US" sz="1100" dirty="0"/>
          </a:p>
          <a:p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  uncompyle6</a:t>
            </a:r>
            <a:endParaRPr lang="en-US" sz="1100" dirty="0"/>
          </a:p>
          <a:p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  decompyle3</a:t>
            </a:r>
            <a:endParaRPr lang="en-US" sz="1100" dirty="0"/>
          </a:p>
          <a:p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  pycdc</a:t>
            </a:r>
            <a:endParaRPr lang="en-US" sz="1100" dirty="0"/>
          </a:p>
          <a:p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  PyLingual</a:t>
            </a:r>
            <a:endParaRPr lang="en-US" sz="11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5F57FD3-C799-B834-1F2A-4F730750AAAF}"/>
              </a:ext>
            </a:extLst>
          </p:cNvPr>
          <p:cNvSpPr/>
          <p:nvPr/>
        </p:nvSpPr>
        <p:spPr>
          <a:xfrm>
            <a:off x="4786014" y="3395638"/>
            <a:ext cx="1580242" cy="353400"/>
          </a:xfrm>
          <a:prstGeom prst="rect">
            <a:avLst/>
          </a:prstGeom>
          <a:noFill/>
        </p:spPr>
        <p:txBody>
          <a:bodyPr wrap="square" lIns="113" tIns="113" rIns="113" bIns="113" rtlCol="0" anchor="t">
            <a:normAutofit/>
          </a:bodyPr>
          <a:lstStyle/>
          <a:p>
            <a:r>
              <a:rPr lang="en-US" sz="1100" b="1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Output: </a:t>
            </a:r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analyzability levels</a:t>
            </a:r>
            <a:endParaRPr lang="en-US" sz="1100" dirty="0"/>
          </a:p>
          <a:p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and failure reasons</a:t>
            </a:r>
            <a:endParaRPr lang="en-US" sz="1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4B52421-F9A7-7759-B8E8-E822E44E9856}"/>
              </a:ext>
            </a:extLst>
          </p:cNvPr>
          <p:cNvSpPr/>
          <p:nvPr/>
        </p:nvSpPr>
        <p:spPr>
          <a:xfrm>
            <a:off x="6931511" y="1754557"/>
            <a:ext cx="1471168" cy="417945"/>
          </a:xfrm>
          <a:prstGeom prst="rect">
            <a:avLst/>
          </a:prstGeom>
          <a:noFill/>
        </p:spPr>
        <p:txBody>
          <a:bodyPr wrap="square" lIns="113" tIns="113" rIns="113" bIns="113" rtlCol="0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Phase 3: Interpreter</a:t>
            </a:r>
            <a:endParaRPr lang="en-US" sz="1100" dirty="0"/>
          </a:p>
          <a:p>
            <a:pPr algn="ctr"/>
            <a:r>
              <a:rPr lang="en-US" sz="1100" b="1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Robustness</a:t>
            </a:r>
            <a:endParaRPr lang="en-US" sz="11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6C092BA-DD4B-1659-3C06-5C961B735C64}"/>
              </a:ext>
            </a:extLst>
          </p:cNvPr>
          <p:cNvSpPr/>
          <p:nvPr/>
        </p:nvSpPr>
        <p:spPr>
          <a:xfrm>
            <a:off x="6707901" y="1743004"/>
            <a:ext cx="276352" cy="211328"/>
          </a:xfrm>
          <a:prstGeom prst="rect">
            <a:avLst/>
          </a:prstGeom>
          <a:noFill/>
        </p:spPr>
        <p:txBody>
          <a:bodyPr wrap="square" lIns="113" tIns="113" rIns="113" bIns="113" rtlCol="0" anchor="t">
            <a:noAutofit/>
          </a:bodyPr>
          <a:lstStyle/>
          <a:p>
            <a:pPr algn="ctr"/>
            <a:r>
              <a:rPr lang="en-US" sz="1100" b="1" dirty="0">
                <a:solidFill>
                  <a:srgbClr val="00B0F0"/>
                </a:solidFill>
                <a:cs typeface="Arial" panose="020B0604020202020204" pitchFamily="34" charset="-120"/>
              </a:rPr>
              <a:t>RQ3</a:t>
            </a: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4942001-CB67-206A-D2D4-3DB6534A0267}"/>
              </a:ext>
            </a:extLst>
          </p:cNvPr>
          <p:cNvSpPr/>
          <p:nvPr/>
        </p:nvSpPr>
        <p:spPr>
          <a:xfrm>
            <a:off x="6771628" y="2339928"/>
            <a:ext cx="1519936" cy="438912"/>
          </a:xfrm>
          <a:prstGeom prst="rect">
            <a:avLst/>
          </a:prstGeom>
          <a:noFill/>
        </p:spPr>
        <p:txBody>
          <a:bodyPr wrap="square" lIns="113" tIns="113" rIns="113" bIns="113" rtlCol="0" anchor="t">
            <a:normAutofit/>
          </a:bodyPr>
          <a:lstStyle/>
          <a:p>
            <a:pPr algn="ctr"/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CPython-version-specific</a:t>
            </a:r>
            <a:endParaRPr lang="en-US" sz="1100" dirty="0"/>
          </a:p>
          <a:p>
            <a:pPr algn="ctr"/>
            <a:r>
              <a:rPr lang="en-US" sz="1100" b="1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bytecode fuzzing</a:t>
            </a:r>
            <a:endParaRPr lang="en-US" sz="1100" b="1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E0C3286-E660-CF74-6CA2-B66B7B74B3A3}"/>
              </a:ext>
            </a:extLst>
          </p:cNvPr>
          <p:cNvSpPr/>
          <p:nvPr/>
        </p:nvSpPr>
        <p:spPr>
          <a:xfrm>
            <a:off x="6758782" y="3375938"/>
            <a:ext cx="1653779" cy="243840"/>
          </a:xfrm>
          <a:prstGeom prst="rect">
            <a:avLst/>
          </a:prstGeom>
          <a:noFill/>
        </p:spPr>
        <p:txBody>
          <a:bodyPr wrap="square" lIns="113" tIns="113" rIns="113" bIns="113" rtlCol="0" anchor="t">
            <a:normAutofit/>
          </a:bodyPr>
          <a:lstStyle/>
          <a:p>
            <a:r>
              <a:rPr lang="en-US" sz="1100" b="1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Output: </a:t>
            </a:r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execution outcomes</a:t>
            </a:r>
            <a:endParaRPr lang="en-US" sz="11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7413EBBC-3617-95FA-6DDB-767BDD03E76D}"/>
              </a:ext>
            </a:extLst>
          </p:cNvPr>
          <p:cNvSpPr/>
          <p:nvPr/>
        </p:nvSpPr>
        <p:spPr>
          <a:xfrm>
            <a:off x="6768942" y="3525685"/>
            <a:ext cx="1623043" cy="341376"/>
          </a:xfrm>
          <a:prstGeom prst="rect">
            <a:avLst/>
          </a:prstGeom>
          <a:noFill/>
        </p:spPr>
        <p:txBody>
          <a:bodyPr wrap="square" lIns="113" tIns="113" rIns="113" bIns="113" rtlCol="0" anchor="t">
            <a:normAutofit/>
          </a:bodyPr>
          <a:lstStyle/>
          <a:p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normal, exception, timeout,</a:t>
            </a:r>
            <a:endParaRPr lang="en-US" sz="1100" dirty="0"/>
          </a:p>
          <a:p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crash, abort</a:t>
            </a:r>
            <a:endParaRPr lang="en-US" sz="11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C904CDA-D14A-C96F-F512-CB4FC6C706DE}"/>
              </a:ext>
            </a:extLst>
          </p:cNvPr>
          <p:cNvSpPr/>
          <p:nvPr/>
        </p:nvSpPr>
        <p:spPr>
          <a:xfrm>
            <a:off x="8860629" y="1763836"/>
            <a:ext cx="1389888" cy="407291"/>
          </a:xfrm>
          <a:prstGeom prst="rect">
            <a:avLst/>
          </a:prstGeom>
          <a:noFill/>
        </p:spPr>
        <p:txBody>
          <a:bodyPr wrap="square" lIns="113" tIns="113" rIns="113" bIns="113" rtlCol="0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Phase 4: Source</a:t>
            </a:r>
            <a:endParaRPr lang="en-US" sz="1100" dirty="0"/>
          </a:p>
          <a:p>
            <a:pPr algn="ctr"/>
            <a:r>
              <a:rPr lang="en-US" sz="1100" b="1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Reproduction</a:t>
            </a: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4092085-7DA5-2B90-9603-0800C3ACF627}"/>
              </a:ext>
            </a:extLst>
          </p:cNvPr>
          <p:cNvSpPr/>
          <p:nvPr/>
        </p:nvSpPr>
        <p:spPr>
          <a:xfrm>
            <a:off x="8757422" y="1747667"/>
            <a:ext cx="276352" cy="211328"/>
          </a:xfrm>
          <a:prstGeom prst="rect">
            <a:avLst/>
          </a:prstGeom>
          <a:noFill/>
        </p:spPr>
        <p:txBody>
          <a:bodyPr wrap="square" lIns="113" tIns="113" rIns="113" bIns="113" rtlCol="0" anchor="t">
            <a:noAutofit/>
          </a:bodyPr>
          <a:lstStyle/>
          <a:p>
            <a:pPr algn="ctr"/>
            <a:r>
              <a:rPr lang="en-US" sz="1100" b="1" dirty="0">
                <a:solidFill>
                  <a:srgbClr val="00B0F0"/>
                </a:solidFill>
                <a:cs typeface="Arial" panose="020B0604020202020204" pitchFamily="34" charset="-120"/>
              </a:rPr>
              <a:t>RQ4</a:t>
            </a: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AA126BF5-DE4E-A354-CB67-8CC57B1F2614}"/>
              </a:ext>
            </a:extLst>
          </p:cNvPr>
          <p:cNvSpPr/>
          <p:nvPr/>
        </p:nvSpPr>
        <p:spPr>
          <a:xfrm>
            <a:off x="8825659" y="3423918"/>
            <a:ext cx="1459828" cy="443142"/>
          </a:xfrm>
          <a:prstGeom prst="rect">
            <a:avLst/>
          </a:prstGeom>
          <a:noFill/>
        </p:spPr>
        <p:txBody>
          <a:bodyPr wrap="square" lIns="113" tIns="113" rIns="113" bIns="113" rtlCol="0" anchor="t">
            <a:normAutofit/>
          </a:bodyPr>
          <a:lstStyle/>
          <a:p>
            <a:r>
              <a:rPr lang="en-US" sz="1100" b="1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Output: </a:t>
            </a:r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reproduced /</a:t>
            </a:r>
            <a:endParaRPr lang="en-US" sz="1100" dirty="0"/>
          </a:p>
          <a:p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not reproduced</a:t>
            </a:r>
            <a:endParaRPr lang="en-US" sz="1100" dirty="0"/>
          </a:p>
        </p:txBody>
      </p:sp>
      <p:sp>
        <p:nvSpPr>
          <p:cNvPr id="37" name="Shape 9">
            <a:extLst>
              <a:ext uri="{FF2B5EF4-FFF2-40B4-BE49-F238E27FC236}">
                <a16:creationId xmlns:a16="http://schemas.microsoft.com/office/drawing/2014/main" id="{ED23791E-0224-4735-EA3C-3D80D510588C}"/>
              </a:ext>
            </a:extLst>
          </p:cNvPr>
          <p:cNvSpPr/>
          <p:nvPr/>
        </p:nvSpPr>
        <p:spPr>
          <a:xfrm>
            <a:off x="2311774" y="3344320"/>
            <a:ext cx="2093614" cy="4063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 dirty="0"/>
          </a:p>
        </p:txBody>
      </p:sp>
      <p:sp>
        <p:nvSpPr>
          <p:cNvPr id="38" name="Shape 10">
            <a:extLst>
              <a:ext uri="{FF2B5EF4-FFF2-40B4-BE49-F238E27FC236}">
                <a16:creationId xmlns:a16="http://schemas.microsoft.com/office/drawing/2014/main" id="{59CFC10B-A084-0DE0-6EA7-F53CA76AEE51}"/>
              </a:ext>
            </a:extLst>
          </p:cNvPr>
          <p:cNvSpPr/>
          <p:nvPr/>
        </p:nvSpPr>
        <p:spPr>
          <a:xfrm flipV="1">
            <a:off x="4691888" y="2191343"/>
            <a:ext cx="1702816" cy="1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39" name="Shape 11">
            <a:extLst>
              <a:ext uri="{FF2B5EF4-FFF2-40B4-BE49-F238E27FC236}">
                <a16:creationId xmlns:a16="http://schemas.microsoft.com/office/drawing/2014/main" id="{8ECAA57D-24FB-29D8-A8DF-9478154351F6}"/>
              </a:ext>
            </a:extLst>
          </p:cNvPr>
          <p:cNvSpPr/>
          <p:nvPr/>
        </p:nvSpPr>
        <p:spPr>
          <a:xfrm flipV="1">
            <a:off x="6681665" y="3369227"/>
            <a:ext cx="1748629" cy="5679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ED539D16-32A6-1ACB-571C-C6AC1474E168}"/>
              </a:ext>
            </a:extLst>
          </p:cNvPr>
          <p:cNvSpPr/>
          <p:nvPr/>
        </p:nvSpPr>
        <p:spPr>
          <a:xfrm flipV="1">
            <a:off x="8716229" y="2191343"/>
            <a:ext cx="1639200" cy="9894"/>
          </a:xfrm>
          <a:prstGeom prst="line">
            <a:avLst/>
          </a:prstGeom>
          <a:noFill/>
          <a:ln w="1143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705722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89760" y="1869440"/>
            <a:ext cx="7886700" cy="3124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00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76400" y="3202940"/>
            <a:ext cx="365760" cy="0"/>
          </a:xfrm>
          <a:prstGeom prst="line">
            <a:avLst/>
          </a:prstGeom>
          <a:noFill/>
          <a:ln w="1778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34740" y="3202940"/>
            <a:ext cx="297180" cy="0"/>
          </a:xfrm>
          <a:prstGeom prst="line">
            <a:avLst/>
          </a:prstGeom>
          <a:noFill/>
          <a:ln w="1778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23560" y="3202940"/>
            <a:ext cx="289560" cy="0"/>
          </a:xfrm>
          <a:prstGeom prst="line">
            <a:avLst/>
          </a:prstGeom>
          <a:noFill/>
          <a:ln w="1778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82840" y="3202940"/>
            <a:ext cx="289560" cy="0"/>
          </a:xfrm>
          <a:prstGeom prst="line">
            <a:avLst/>
          </a:prstGeom>
          <a:noFill/>
          <a:ln w="1778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540240" y="3202940"/>
            <a:ext cx="411480" cy="0"/>
          </a:xfrm>
          <a:prstGeom prst="line">
            <a:avLst/>
          </a:prstGeom>
          <a:noFill/>
          <a:ln w="17780">
            <a:solidFill>
              <a:srgbClr val="0000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838450" y="3804920"/>
            <a:ext cx="0" cy="243840"/>
          </a:xfrm>
          <a:prstGeom prst="line">
            <a:avLst/>
          </a:prstGeom>
          <a:noFill/>
          <a:ln w="10160">
            <a:solidFill>
              <a:srgbClr val="55555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56320" y="3804920"/>
            <a:ext cx="0" cy="243840"/>
          </a:xfrm>
          <a:prstGeom prst="line">
            <a:avLst/>
          </a:prstGeom>
          <a:noFill/>
          <a:ln w="10160">
            <a:solidFill>
              <a:srgbClr val="55555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20440" y="1968500"/>
            <a:ext cx="4648200" cy="213360"/>
          </a:xfrm>
          <a:prstGeom prst="rect">
            <a:avLst/>
          </a:prstGeom>
          <a:noFill/>
        </p:spPr>
        <p:txBody>
          <a:bodyPr wrap="square" lIns="212" tIns="212" rIns="212" bIns="212" rtlCol="0" anchor="ctr">
            <a:normAutofit/>
          </a:bodyPr>
          <a:lstStyle/>
          <a:p>
            <a:pPr algn="ctr"/>
            <a:r>
              <a:rPr lang="en-US" sz="1208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Repeat independently for each CPython version.</a:t>
            </a:r>
            <a:endParaRPr lang="en-US" sz="1208" dirty="0"/>
          </a:p>
        </p:txBody>
      </p:sp>
      <p:sp>
        <p:nvSpPr>
          <p:cNvPr id="11" name="Text 9"/>
          <p:cNvSpPr/>
          <p:nvPr/>
        </p:nvSpPr>
        <p:spPr>
          <a:xfrm>
            <a:off x="228600" y="2654300"/>
            <a:ext cx="14325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058" tIns="1058" rIns="1058" bIns="1058" rtlCol="0" anchor="ctr">
            <a:normAutofit/>
          </a:bodyPr>
          <a:lstStyle/>
          <a:p>
            <a:pPr algn="ctr"/>
            <a:r>
              <a:rPr lang="en-US" sz="1275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Set of CPython</a:t>
            </a:r>
            <a:endParaRPr lang="en-US" sz="1275" dirty="0"/>
          </a:p>
          <a:p>
            <a:pPr algn="ctr"/>
            <a:r>
              <a:rPr lang="en-US" sz="1275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versions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2057400" y="2578100"/>
            <a:ext cx="1562100" cy="120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058" tIns="1058" rIns="1058" bIns="1058" rtlCol="0" anchor="ctr">
            <a:normAutofit/>
          </a:bodyPr>
          <a:lstStyle/>
          <a:p>
            <a:pPr algn="ctr"/>
            <a:r>
              <a:rPr lang="en-US" sz="1192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Extract seeds</a:t>
            </a:r>
            <a:endParaRPr lang="en-US" sz="1192" dirty="0"/>
          </a:p>
          <a:p>
            <a:pPr algn="ctr"/>
            <a:r>
              <a:rPr lang="en-US" sz="1192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 CPython</a:t>
            </a:r>
            <a:endParaRPr lang="en-US" sz="1192" dirty="0"/>
          </a:p>
          <a:p>
            <a:pPr algn="ctr"/>
            <a:r>
              <a:rPr lang="en-US" sz="1192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unittests</a:t>
            </a:r>
            <a:endParaRPr lang="en-US" sz="1192" dirty="0"/>
          </a:p>
        </p:txBody>
      </p:sp>
      <p:sp>
        <p:nvSpPr>
          <p:cNvPr id="13" name="Text 11"/>
          <p:cNvSpPr/>
          <p:nvPr/>
        </p:nvSpPr>
        <p:spPr>
          <a:xfrm>
            <a:off x="3947160" y="2578100"/>
            <a:ext cx="1661160" cy="120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058" tIns="1058" rIns="1058" bIns="1058" rtlCol="0" anchor="ctr">
            <a:normAutofit/>
          </a:bodyPr>
          <a:lstStyle/>
          <a:p>
            <a:pPr algn="ctr"/>
            <a:r>
              <a:rPr lang="en-US" sz="1158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Compile seeds to</a:t>
            </a:r>
            <a:endParaRPr lang="en-US" sz="1158" dirty="0"/>
          </a:p>
          <a:p>
            <a:pPr algn="ctr"/>
            <a:r>
              <a:rPr lang="en-US" sz="1158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version-matched</a:t>
            </a:r>
            <a:endParaRPr lang="en-US" sz="1158" dirty="0"/>
          </a:p>
          <a:p>
            <a:pPr algn="ctr"/>
            <a:r>
              <a:rPr lang="en-US" sz="1158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.pyc corpus</a:t>
            </a:r>
            <a:endParaRPr lang="en-US" sz="1158" dirty="0"/>
          </a:p>
        </p:txBody>
      </p:sp>
      <p:sp>
        <p:nvSpPr>
          <p:cNvPr id="14" name="Text 12"/>
          <p:cNvSpPr/>
          <p:nvPr/>
        </p:nvSpPr>
        <p:spPr>
          <a:xfrm>
            <a:off x="5928360" y="2578100"/>
            <a:ext cx="1539240" cy="120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058" tIns="1058" rIns="1058" bIns="1058" rtlCol="0" anchor="ctr">
            <a:normAutofit/>
          </a:bodyPr>
          <a:lstStyle/>
          <a:p>
            <a:pPr algn="ctr"/>
            <a:r>
              <a:rPr lang="en-US" sz="1192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Feed corpus to</a:t>
            </a:r>
            <a:endParaRPr lang="en-US" sz="1192" dirty="0"/>
          </a:p>
          <a:p>
            <a:pPr algn="ctr"/>
            <a:r>
              <a:rPr lang="en-US" sz="1192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honggfuzz</a:t>
            </a:r>
            <a:endParaRPr lang="en-US" sz="1192" dirty="0"/>
          </a:p>
          <a:p>
            <a:pPr algn="ctr"/>
            <a:r>
              <a:rPr lang="en-US" sz="1192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backend</a:t>
            </a:r>
            <a:endParaRPr lang="en-US" sz="1192" dirty="0"/>
          </a:p>
        </p:txBody>
      </p:sp>
      <p:sp>
        <p:nvSpPr>
          <p:cNvPr id="15" name="Text 13"/>
          <p:cNvSpPr/>
          <p:nvPr/>
        </p:nvSpPr>
        <p:spPr>
          <a:xfrm>
            <a:off x="7787640" y="2578100"/>
            <a:ext cx="1737360" cy="1203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1058" tIns="1058" rIns="1058" bIns="1058" rtlCol="0" anchor="ctr">
            <a:normAutofit/>
          </a:bodyPr>
          <a:lstStyle/>
          <a:p>
            <a:pPr algn="ctr"/>
            <a:r>
              <a:rPr lang="en-US" sz="1083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Execute mutated</a:t>
            </a:r>
            <a:endParaRPr lang="en-US" sz="1083" dirty="0"/>
          </a:p>
          <a:p>
            <a:pPr algn="ctr"/>
            <a:r>
              <a:rPr lang="en-US" sz="1083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bytecode with</a:t>
            </a:r>
            <a:endParaRPr lang="en-US" sz="1083" dirty="0"/>
          </a:p>
          <a:p>
            <a:pPr algn="ctr"/>
            <a:r>
              <a:rPr lang="en-US" sz="1083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matching CPython</a:t>
            </a:r>
            <a:endParaRPr lang="en-US" sz="1083" dirty="0"/>
          </a:p>
          <a:p>
            <a:pPr algn="ctr"/>
            <a:r>
              <a:rPr lang="en-US" sz="1083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interpreter</a:t>
            </a:r>
            <a:endParaRPr lang="en-US" sz="1083" dirty="0"/>
          </a:p>
        </p:txBody>
      </p:sp>
      <p:sp>
        <p:nvSpPr>
          <p:cNvPr id="16" name="Shape 14"/>
          <p:cNvSpPr/>
          <p:nvPr/>
        </p:nvSpPr>
        <p:spPr>
          <a:xfrm>
            <a:off x="9966960" y="2296160"/>
            <a:ext cx="1996440" cy="207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88880" y="2433320"/>
            <a:ext cx="1752600" cy="243840"/>
          </a:xfrm>
          <a:prstGeom prst="rect">
            <a:avLst/>
          </a:prstGeom>
          <a:noFill/>
        </p:spPr>
        <p:txBody>
          <a:bodyPr wrap="square" lIns="212" tIns="212" rIns="212" bIns="212" rtlCol="0" anchor="ctr">
            <a:normAutofit/>
          </a:bodyPr>
          <a:lstStyle/>
          <a:p>
            <a:pPr algn="ctr"/>
            <a:r>
              <a:rPr lang="en-US" sz="1183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Execution outcomes</a:t>
            </a:r>
            <a:endParaRPr lang="en-US" sz="1183" dirty="0"/>
          </a:p>
        </p:txBody>
      </p:sp>
      <p:sp>
        <p:nvSpPr>
          <p:cNvPr id="18" name="Text 16"/>
          <p:cNvSpPr/>
          <p:nvPr/>
        </p:nvSpPr>
        <p:spPr>
          <a:xfrm>
            <a:off x="10119360" y="2768600"/>
            <a:ext cx="1737360" cy="1493520"/>
          </a:xfrm>
          <a:prstGeom prst="rect">
            <a:avLst/>
          </a:prstGeom>
          <a:noFill/>
        </p:spPr>
        <p:txBody>
          <a:bodyPr wrap="square" lIns="212" tIns="212" rIns="212" bIns="212" rtlCol="0" anchor="t">
            <a:normAutofit/>
          </a:bodyPr>
          <a:lstStyle/>
          <a:p>
            <a:r>
              <a:rPr lang="en-US" sz="933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normal execution</a:t>
            </a:r>
            <a:endParaRPr lang="en-US" sz="933" dirty="0"/>
          </a:p>
          <a:p>
            <a:r>
              <a:rPr lang="en-US" sz="933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Python-level exception</a:t>
            </a:r>
            <a:endParaRPr lang="en-US" sz="933" dirty="0"/>
          </a:p>
          <a:p>
            <a:r>
              <a:rPr lang="en-US" sz="933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timeout</a:t>
            </a:r>
            <a:endParaRPr lang="en-US" sz="933" dirty="0"/>
          </a:p>
          <a:p>
            <a:r>
              <a:rPr lang="en-US" sz="933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crash</a:t>
            </a:r>
            <a:endParaRPr lang="en-US" sz="933" dirty="0"/>
          </a:p>
          <a:p>
            <a:r>
              <a:rPr lang="en-US" sz="933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abort</a:t>
            </a:r>
            <a:endParaRPr lang="en-US" sz="933" dirty="0"/>
          </a:p>
          <a:p>
            <a:r>
              <a:rPr lang="en-US" sz="933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other abnormal termination</a:t>
            </a:r>
            <a:endParaRPr lang="en-US" sz="933" dirty="0"/>
          </a:p>
        </p:txBody>
      </p:sp>
      <p:sp>
        <p:nvSpPr>
          <p:cNvPr id="19" name="Text 17"/>
          <p:cNvSpPr/>
          <p:nvPr/>
        </p:nvSpPr>
        <p:spPr>
          <a:xfrm>
            <a:off x="2095500" y="4102100"/>
            <a:ext cx="1485900" cy="624840"/>
          </a:xfrm>
          <a:prstGeom prst="rect">
            <a:avLst/>
          </a:prstGeom>
          <a:noFill/>
        </p:spPr>
        <p:txBody>
          <a:bodyPr wrap="square" lIns="318" tIns="318" rIns="318" bIns="318" rtlCol="0" anchor="ctr">
            <a:normAutofit/>
          </a:bodyPr>
          <a:lstStyle/>
          <a:p>
            <a:pPr algn="ctr"/>
            <a:r>
              <a:rPr lang="en-US" sz="875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Unittest seeds cover</a:t>
            </a:r>
            <a:endParaRPr lang="en-US" sz="875" dirty="0"/>
          </a:p>
          <a:p>
            <a:pPr algn="ctr"/>
            <a:r>
              <a:rPr lang="en-US" sz="875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core language/runtime</a:t>
            </a:r>
            <a:endParaRPr lang="en-US" sz="875" dirty="0"/>
          </a:p>
          <a:p>
            <a:pPr algn="ctr"/>
            <a:r>
              <a:rPr lang="en-US" sz="875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functionality.</a:t>
            </a:r>
            <a:endParaRPr lang="en-US" sz="875" dirty="0"/>
          </a:p>
        </p:txBody>
      </p:sp>
      <p:sp>
        <p:nvSpPr>
          <p:cNvPr id="20" name="Text 18"/>
          <p:cNvSpPr/>
          <p:nvPr/>
        </p:nvSpPr>
        <p:spPr>
          <a:xfrm>
            <a:off x="7840980" y="4102100"/>
            <a:ext cx="1630680" cy="624840"/>
          </a:xfrm>
          <a:prstGeom prst="rect">
            <a:avLst/>
          </a:prstGeom>
          <a:noFill/>
        </p:spPr>
        <p:txBody>
          <a:bodyPr wrap="square" lIns="318" tIns="318" rIns="318" bIns="318" rtlCol="0" anchor="ctr">
            <a:normAutofit/>
          </a:bodyPr>
          <a:lstStyle/>
          <a:p>
            <a:pPr algn="ctr"/>
            <a:r>
              <a:rPr lang="en-US" sz="875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Runs bounded by</a:t>
            </a:r>
            <a:endParaRPr lang="en-US" sz="875" dirty="0"/>
          </a:p>
          <a:p>
            <a:pPr algn="ctr"/>
            <a:r>
              <a:rPr lang="en-US" sz="875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timeout and process</a:t>
            </a:r>
            <a:endParaRPr lang="en-US" sz="875" dirty="0"/>
          </a:p>
          <a:p>
            <a:pPr algn="ctr"/>
            <a:r>
              <a:rPr lang="en-US" sz="875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isolation.</a:t>
            </a:r>
            <a:endParaRPr lang="en-US" sz="8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10AA-2FE1-63F9-B70D-F1D40B031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4F347BB5-B7DD-1E73-F278-E031A1830DA1}"/>
              </a:ext>
            </a:extLst>
          </p:cNvPr>
          <p:cNvSpPr/>
          <p:nvPr/>
        </p:nvSpPr>
        <p:spPr>
          <a:xfrm>
            <a:off x="2583180" y="2186940"/>
            <a:ext cx="5067300" cy="8991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E59F5B2-A82E-9851-62F2-398F8131147C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2426971" y="2700020"/>
            <a:ext cx="240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1739A206-B08E-2BE4-EBE4-F7D475D4B4F3}"/>
              </a:ext>
            </a:extLst>
          </p:cNvPr>
          <p:cNvSpPr/>
          <p:nvPr/>
        </p:nvSpPr>
        <p:spPr>
          <a:xfrm>
            <a:off x="2667000" y="2442210"/>
            <a:ext cx="1432559" cy="5156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  <a:cs typeface="Arial" panose="020B0604020202020204" pitchFamily="34" charset="-120"/>
              </a:rPr>
              <a:t>Extract seeds</a:t>
            </a:r>
          </a:p>
          <a:p>
            <a:pPr algn="ctr"/>
            <a:r>
              <a:rPr lang="en-US" sz="1100" dirty="0">
                <a:solidFill>
                  <a:srgbClr val="000000"/>
                </a:solidFill>
                <a:cs typeface="Arial" panose="020B0604020202020204" pitchFamily="34" charset="-120"/>
              </a:rPr>
              <a:t>from </a:t>
            </a:r>
            <a:r>
              <a:rPr lang="en-US" sz="1100" dirty="0" err="1">
                <a:solidFill>
                  <a:srgbClr val="000000"/>
                </a:solidFill>
                <a:cs typeface="Arial" panose="020B0604020202020204" pitchFamily="34" charset="-120"/>
              </a:rPr>
              <a:t>Cpython</a:t>
            </a:r>
            <a:r>
              <a:rPr lang="en-US" sz="1100" dirty="0">
                <a:solidFill>
                  <a:srgbClr val="000000"/>
                </a:solidFill>
                <a:cs typeface="Arial" panose="020B0604020202020204" pitchFamily="34" charset="-120"/>
              </a:rPr>
              <a:t> </a:t>
            </a:r>
            <a:r>
              <a:rPr lang="en-US" sz="1100" dirty="0" err="1">
                <a:solidFill>
                  <a:srgbClr val="000000"/>
                </a:solidFill>
                <a:cs typeface="Arial" panose="020B0604020202020204" pitchFamily="34" charset="-120"/>
              </a:rPr>
              <a:t>unittests</a:t>
            </a:r>
            <a:endParaRPr lang="en-US" sz="1100" dirty="0">
              <a:solidFill>
                <a:srgbClr val="000000"/>
              </a:solidFill>
              <a:cs typeface="Arial" panose="020B0604020202020204" pitchFamily="34" charset="-12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13A5758-C046-5450-4C05-A5A5734D4F6E}"/>
              </a:ext>
            </a:extLst>
          </p:cNvPr>
          <p:cNvSpPr/>
          <p:nvPr/>
        </p:nvSpPr>
        <p:spPr>
          <a:xfrm>
            <a:off x="4339588" y="2442210"/>
            <a:ext cx="1539241" cy="5156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  <a:cs typeface="Arial" panose="020B0604020202020204" pitchFamily="34" charset="-120"/>
              </a:rPr>
              <a:t>Compile seeds to version-matched .</a:t>
            </a:r>
            <a:r>
              <a:rPr lang="en-US" sz="1100" dirty="0" err="1">
                <a:solidFill>
                  <a:srgbClr val="000000"/>
                </a:solidFill>
                <a:cs typeface="Arial" panose="020B0604020202020204" pitchFamily="34" charset="-120"/>
              </a:rPr>
              <a:t>pyc</a:t>
            </a:r>
            <a:r>
              <a:rPr lang="en-US" sz="1100" dirty="0">
                <a:solidFill>
                  <a:srgbClr val="000000"/>
                </a:solidFill>
                <a:cs typeface="Arial" panose="020B0604020202020204" pitchFamily="34" charset="-120"/>
              </a:rPr>
              <a:t> corpus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6900385-C890-288C-9C31-16952798B294}"/>
              </a:ext>
            </a:extLst>
          </p:cNvPr>
          <p:cNvCxnSpPr>
            <a:cxnSpLocks/>
            <a:stCxn id="29" idx="3"/>
            <a:endCxn id="32" idx="1"/>
          </p:cNvCxnSpPr>
          <p:nvPr/>
        </p:nvCxnSpPr>
        <p:spPr>
          <a:xfrm>
            <a:off x="4099559" y="2700020"/>
            <a:ext cx="2400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8C306EAD-B67E-FA8D-E4F3-9F5922402D95}"/>
              </a:ext>
            </a:extLst>
          </p:cNvPr>
          <p:cNvSpPr/>
          <p:nvPr/>
        </p:nvSpPr>
        <p:spPr>
          <a:xfrm>
            <a:off x="6134100" y="2442210"/>
            <a:ext cx="1436372" cy="5156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  <a:cs typeface="Arial" panose="020B0604020202020204" pitchFamily="34" charset="-120"/>
              </a:rPr>
              <a:t>Fuzz </a:t>
            </a:r>
            <a:r>
              <a:rPr lang="en-US" sz="1100" dirty="0" err="1">
                <a:solidFill>
                  <a:srgbClr val="000000"/>
                </a:solidFill>
                <a:cs typeface="Arial" panose="020B0604020202020204" pitchFamily="34" charset="-120"/>
              </a:rPr>
              <a:t>CPython</a:t>
            </a:r>
            <a:r>
              <a:rPr lang="en-US" sz="1100" dirty="0">
                <a:solidFill>
                  <a:srgbClr val="000000"/>
                </a:solidFill>
                <a:cs typeface="Arial" panose="020B0604020202020204" pitchFamily="34" charset="-120"/>
              </a:rPr>
              <a:t> with </a:t>
            </a:r>
          </a:p>
          <a:p>
            <a:pPr algn="ctr"/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mutated bytecode</a:t>
            </a:r>
            <a:r>
              <a:rPr lang="en-US" sz="1100" dirty="0">
                <a:solidFill>
                  <a:srgbClr val="000000"/>
                </a:solidFill>
                <a:cs typeface="Arial" panose="020B0604020202020204" pitchFamily="34" charset="-120"/>
              </a:rPr>
              <a:t> 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E20AFCC-A2C6-1824-002A-4A91045EF298}"/>
              </a:ext>
            </a:extLst>
          </p:cNvPr>
          <p:cNvCxnSpPr>
            <a:cxnSpLocks/>
            <a:stCxn id="32" idx="3"/>
            <a:endCxn id="39" idx="1"/>
          </p:cNvCxnSpPr>
          <p:nvPr/>
        </p:nvCxnSpPr>
        <p:spPr>
          <a:xfrm>
            <a:off x="5878829" y="2700020"/>
            <a:ext cx="25527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: Folded Corner 49">
            <a:extLst>
              <a:ext uri="{FF2B5EF4-FFF2-40B4-BE49-F238E27FC236}">
                <a16:creationId xmlns:a16="http://schemas.microsoft.com/office/drawing/2014/main" id="{66ECA80E-F35D-E2BF-EB64-37C3F8BF3176}"/>
              </a:ext>
            </a:extLst>
          </p:cNvPr>
          <p:cNvSpPr/>
          <p:nvPr/>
        </p:nvSpPr>
        <p:spPr>
          <a:xfrm>
            <a:off x="1470661" y="2501900"/>
            <a:ext cx="960120" cy="396240"/>
          </a:xfrm>
          <a:prstGeom prst="foldedCorne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Set of </a:t>
            </a:r>
            <a:r>
              <a:rPr lang="en-US" sz="1100" dirty="0" err="1">
                <a:solidFill>
                  <a:schemeClr val="tx1"/>
                </a:solidFill>
              </a:rPr>
              <a:t>CPython</a:t>
            </a:r>
            <a:endParaRPr lang="en-US" sz="1100" dirty="0">
              <a:solidFill>
                <a:schemeClr val="tx1"/>
              </a:solidFill>
            </a:endParaRP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versions</a:t>
            </a:r>
          </a:p>
        </p:txBody>
      </p:sp>
      <p:sp>
        <p:nvSpPr>
          <p:cNvPr id="51" name="Rectangle: Folded Corner 50">
            <a:extLst>
              <a:ext uri="{FF2B5EF4-FFF2-40B4-BE49-F238E27FC236}">
                <a16:creationId xmlns:a16="http://schemas.microsoft.com/office/drawing/2014/main" id="{DD25DCD5-4CC8-3FD8-5B7A-2281EF7B0EEE}"/>
              </a:ext>
            </a:extLst>
          </p:cNvPr>
          <p:cNvSpPr/>
          <p:nvPr/>
        </p:nvSpPr>
        <p:spPr>
          <a:xfrm>
            <a:off x="7833363" y="2476500"/>
            <a:ext cx="1379216" cy="447040"/>
          </a:xfrm>
          <a:prstGeom prst="foldedCorne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 -normal execution</a:t>
            </a:r>
            <a:endParaRPr lang="en-US" sz="1100" dirty="0"/>
          </a:p>
          <a:p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 -timeout/ crash / abort</a:t>
            </a:r>
            <a:endParaRPr lang="en-US" sz="1100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0FD57CF-0036-E8B7-75A3-DD28E0670BD8}"/>
              </a:ext>
            </a:extLst>
          </p:cNvPr>
          <p:cNvCxnSpPr>
            <a:stCxn id="39" idx="3"/>
            <a:endCxn id="51" idx="1"/>
          </p:cNvCxnSpPr>
          <p:nvPr/>
        </p:nvCxnSpPr>
        <p:spPr>
          <a:xfrm>
            <a:off x="7570472" y="2700020"/>
            <a:ext cx="26289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8">
            <a:extLst>
              <a:ext uri="{FF2B5EF4-FFF2-40B4-BE49-F238E27FC236}">
                <a16:creationId xmlns:a16="http://schemas.microsoft.com/office/drawing/2014/main" id="{C3398685-08F2-C485-1831-56680865EAB9}"/>
              </a:ext>
            </a:extLst>
          </p:cNvPr>
          <p:cNvSpPr/>
          <p:nvPr/>
        </p:nvSpPr>
        <p:spPr>
          <a:xfrm>
            <a:off x="2792730" y="2184401"/>
            <a:ext cx="4648200" cy="213360"/>
          </a:xfrm>
          <a:prstGeom prst="rect">
            <a:avLst/>
          </a:prstGeom>
          <a:noFill/>
        </p:spPr>
        <p:txBody>
          <a:bodyPr wrap="square" lIns="212" tIns="212" rIns="212" bIns="212" rtlCol="0" anchor="ctr">
            <a:normAutofit/>
          </a:bodyPr>
          <a:lstStyle/>
          <a:p>
            <a:pPr algn="ctr"/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Repeat independently for each </a:t>
            </a:r>
            <a:r>
              <a:rPr lang="en-US" sz="1100" dirty="0" err="1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CPython</a:t>
            </a:r>
            <a:r>
              <a:rPr lang="en-US" sz="1100" dirty="0">
                <a:solidFill>
                  <a:srgbClr val="000000"/>
                </a:solidFill>
                <a:ea typeface="Arial" panose="020B0604020202020204" pitchFamily="34" charset="-122"/>
                <a:cs typeface="Arial" panose="020B0604020202020204" pitchFamily="34" charset="-120"/>
              </a:rPr>
              <a:t> version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97017152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CCE8C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CCE8C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359</Words>
  <Application>Microsoft Office PowerPoint</Application>
  <PresentationFormat>Widescreen</PresentationFormat>
  <Paragraphs>133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WPS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 li</dc:creator>
  <cp:lastModifiedBy>wen li</cp:lastModifiedBy>
  <cp:revision>40</cp:revision>
  <cp:lastPrinted>2026-06-04T01:05:10Z</cp:lastPrinted>
  <dcterms:created xsi:type="dcterms:W3CDTF">2023-08-09T12:44:00Z</dcterms:created>
  <dcterms:modified xsi:type="dcterms:W3CDTF">2026-06-04T01:06:09Z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